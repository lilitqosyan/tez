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6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5E487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838" autoAdjust="0"/>
    <p:restoredTop sz="94660"/>
  </p:normalViewPr>
  <p:slideViewPr>
    <p:cSldViewPr>
      <p:cViewPr varScale="1">
        <p:scale>
          <a:sx n="110" d="100"/>
          <a:sy n="110" d="100"/>
        </p:scale>
        <p:origin x="-16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xmlns="" id="{63A6D0F9-1994-6F98-2BBC-161F1EA90B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1752600"/>
          </a:xfrm>
        </p:spPr>
        <p:txBody>
          <a:bodyPr/>
          <a:lstStyle/>
          <a:p>
            <a:endParaRPr kumimoji="1" lang="x-none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xmlns="" id="{70CB0482-3A57-3D12-AD5F-4CAE9B106D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309" y="3200400"/>
            <a:ext cx="8211383" cy="3057525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05A7A6B-4953-60DE-D491-0E7D4F0BA2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309" y="2216665"/>
            <a:ext cx="8211383" cy="8599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48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xmlns="" val="1336343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708C7576-2057-11D0-FD41-FB207F75F3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9144000" cy="6858000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xmlns="" val="287397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="" xmlns:a16="http://schemas.microsoft.com/office/drawing/2014/main" id="{44B08C53-64C3-25BB-01E5-4F302EC1D6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1950" y="603250"/>
            <a:ext cx="3219450" cy="5651500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xmlns="" val="630113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="" xmlns:a16="http://schemas.microsoft.com/office/drawing/2014/main" id="{79330D8A-E28F-0115-E780-18CB770077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6475" y="-1"/>
            <a:ext cx="3152775" cy="6115665"/>
          </a:xfrm>
        </p:spPr>
        <p:txBody>
          <a:bodyPr/>
          <a:lstStyle/>
          <a:p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xmlns="" val="393080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개체 틀 7">
            <a:extLst>
              <a:ext uri="{FF2B5EF4-FFF2-40B4-BE49-F238E27FC236}">
                <a16:creationId xmlns:a16="http://schemas.microsoft.com/office/drawing/2014/main" xmlns="" id="{7CB64019-EFD1-5FD5-CEA9-5AEDD8E02E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6913" b="36913"/>
          <a:stretch>
            <a:fillRect/>
          </a:stretch>
        </p:blipFill>
        <p:spPr/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6A850B12-8B47-3E72-FF20-0A219A711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034" y="3571876"/>
            <a:ext cx="8211383" cy="1209281"/>
          </a:xfrm>
        </p:spPr>
        <p:txBody>
          <a:bodyPr>
            <a:normAutofit/>
          </a:bodyPr>
          <a:lstStyle/>
          <a:p>
            <a:pPr algn="ctr"/>
            <a:r>
              <a:rPr lang="hy-AM" sz="2400" b="1" dirty="0" smtClean="0">
                <a:solidFill>
                  <a:srgbClr val="00B0F0"/>
                </a:solidFill>
              </a:rPr>
              <a:t>Օպտիմալացման գործընթացների չափայնության նվազեցման միջոցի մշակում</a:t>
            </a:r>
            <a:endParaRPr lang="ru-RU" sz="2400" dirty="0">
              <a:solidFill>
                <a:srgbClr val="00B0F0"/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xmlns="" id="{0188213C-A761-425D-5F00-DDD052874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309" y="2071679"/>
            <a:ext cx="8211383" cy="1004898"/>
          </a:xfrm>
        </p:spPr>
        <p:txBody>
          <a:bodyPr/>
          <a:lstStyle/>
          <a:p>
            <a:pPr algn="ctr"/>
            <a:r>
              <a:rPr lang="hy-AM" sz="3200" dirty="0" smtClean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Հայաստանի Ազգային Պոլիտեխնիկական Համալսարան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Sylfaen" panose="010A0502050306030303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xmlns="" id="{9B4FCBFF-C3A9-EFAA-DD04-5EF062854338}"/>
              </a:ext>
            </a:extLst>
          </p:cNvPr>
          <p:cNvCxnSpPr/>
          <p:nvPr/>
        </p:nvCxnSpPr>
        <p:spPr>
          <a:xfrm>
            <a:off x="1" y="1887794"/>
            <a:ext cx="914399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596" y="4929198"/>
            <a:ext cx="6929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y-AM" dirty="0" smtClean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Ֆակուլտետ՝ 	Կիրառական Մաթեմատիկա և Ֆիզիկա</a:t>
            </a:r>
          </a:p>
          <a:p>
            <a:pPr algn="just"/>
            <a:r>
              <a:rPr lang="hy-AM" dirty="0" smtClean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Խումբ՝ 		Մմթ 4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40</a:t>
            </a:r>
            <a:endParaRPr lang="hy-AM" dirty="0" smtClean="0">
              <a:solidFill>
                <a:schemeClr val="accent1">
                  <a:lumMod val="75000"/>
                </a:schemeClr>
              </a:solidFill>
              <a:latin typeface="Sylfaen" panose="010A0502050306030303" pitchFamily="18" charset="0"/>
            </a:endParaRPr>
          </a:p>
          <a:p>
            <a:pPr algn="just"/>
            <a:r>
              <a:rPr lang="hy-AM" dirty="0" smtClean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Ուսանողուհի՝ 	Քոսյան Լիլիթ</a:t>
            </a:r>
          </a:p>
          <a:p>
            <a:pPr algn="just"/>
            <a:r>
              <a:rPr lang="hy-AM" dirty="0" smtClean="0">
                <a:solidFill>
                  <a:schemeClr val="accent1">
                    <a:lumMod val="75000"/>
                  </a:schemeClr>
                </a:solidFill>
                <a:latin typeface="Sylfaen" panose="010A0502050306030303" pitchFamily="18" charset="0"/>
              </a:rPr>
              <a:t>Ղեկավար՝ 	Մարկոսյան Գայանե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 309">
            <a:extLst>
              <a:ext uri="{FF2B5EF4-FFF2-40B4-BE49-F238E27FC236}">
                <a16:creationId xmlns:a16="http://schemas.microsoft.com/office/drawing/2014/main" xmlns="" id="{F8D56E7E-A4A0-5CB9-8987-44010F56631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7158" y="4714884"/>
            <a:ext cx="5500726" cy="7143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Rectangle 310">
            <a:extLst>
              <a:ext uri="{FF2B5EF4-FFF2-40B4-BE49-F238E27FC236}">
                <a16:creationId xmlns:a16="http://schemas.microsoft.com/office/drawing/2014/main" xmlns="" id="{4BD42CC6-13B9-6595-F3AB-DA848466561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7158" y="3286124"/>
            <a:ext cx="8139023" cy="8444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210586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CC4AB835-FD89-8F9E-DE96-F836B99A0BE5}"/>
              </a:ext>
            </a:extLst>
          </p:cNvPr>
          <p:cNvSpPr/>
          <p:nvPr/>
        </p:nvSpPr>
        <p:spPr>
          <a:xfrm>
            <a:off x="0" y="3979334"/>
            <a:ext cx="9144000" cy="287866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4" name="그림 개체 틀 3">
            <a:extLst>
              <a:ext uri="{FF2B5EF4-FFF2-40B4-BE49-F238E27FC236}">
                <a16:creationId xmlns="" xmlns:a16="http://schemas.microsoft.com/office/drawing/2014/main" id="{FD82BC86-0A34-2488-E62F-214479F547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8510" b="8510"/>
          <a:stretch>
            <a:fillRect/>
          </a:stretch>
        </p:blipFill>
        <p:spPr/>
      </p:pic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B4903C89-5D84-1DF5-B196-A4B944929EB1}"/>
              </a:ext>
            </a:extLst>
          </p:cNvPr>
          <p:cNvSpPr/>
          <p:nvPr/>
        </p:nvSpPr>
        <p:spPr>
          <a:xfrm>
            <a:off x="0" y="4336026"/>
            <a:ext cx="9144000" cy="2521974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5" name="자유형 14">
            <a:extLst>
              <a:ext uri="{FF2B5EF4-FFF2-40B4-BE49-F238E27FC236}">
                <a16:creationId xmlns="" xmlns:a16="http://schemas.microsoft.com/office/drawing/2014/main" id="{7A3BF33E-98E2-0366-5D13-78F1EA38BFE8}"/>
              </a:ext>
            </a:extLst>
          </p:cNvPr>
          <p:cNvSpPr/>
          <p:nvPr/>
        </p:nvSpPr>
        <p:spPr>
          <a:xfrm rot="5400000">
            <a:off x="6782422" y="4347240"/>
            <a:ext cx="632216" cy="2085984"/>
          </a:xfrm>
          <a:custGeom>
            <a:avLst/>
            <a:gdLst>
              <a:gd name="connsiteX0" fmla="*/ 0 w 632216"/>
              <a:gd name="connsiteY0" fmla="*/ 2465204 h 2781312"/>
              <a:gd name="connsiteX1" fmla="*/ 147 w 632216"/>
              <a:gd name="connsiteY1" fmla="*/ 2463741 h 2781312"/>
              <a:gd name="connsiteX2" fmla="*/ 0 w 632216"/>
              <a:gd name="connsiteY2" fmla="*/ 2463741 h 2781312"/>
              <a:gd name="connsiteX3" fmla="*/ 0 w 632216"/>
              <a:gd name="connsiteY3" fmla="*/ 1538100 h 2781312"/>
              <a:gd name="connsiteX4" fmla="*/ 0 w 632216"/>
              <a:gd name="connsiteY4" fmla="*/ 1536637 h 2781312"/>
              <a:gd name="connsiteX5" fmla="*/ 0 w 632216"/>
              <a:gd name="connsiteY5" fmla="*/ 1243213 h 2781312"/>
              <a:gd name="connsiteX6" fmla="*/ 0 w 632216"/>
              <a:gd name="connsiteY6" fmla="*/ 316108 h 2781312"/>
              <a:gd name="connsiteX7" fmla="*/ 316108 w 632216"/>
              <a:gd name="connsiteY7" fmla="*/ 0 h 2781312"/>
              <a:gd name="connsiteX8" fmla="*/ 632216 w 632216"/>
              <a:gd name="connsiteY8" fmla="*/ 316108 h 2781312"/>
              <a:gd name="connsiteX9" fmla="*/ 632215 w 632216"/>
              <a:gd name="connsiteY9" fmla="*/ 316116 h 2781312"/>
              <a:gd name="connsiteX10" fmla="*/ 632215 w 632216"/>
              <a:gd name="connsiteY10" fmla="*/ 1243205 h 2781312"/>
              <a:gd name="connsiteX11" fmla="*/ 632216 w 632216"/>
              <a:gd name="connsiteY11" fmla="*/ 1243213 h 2781312"/>
              <a:gd name="connsiteX12" fmla="*/ 632215 w 632216"/>
              <a:gd name="connsiteY12" fmla="*/ 1243220 h 2781312"/>
              <a:gd name="connsiteX13" fmla="*/ 632215 w 632216"/>
              <a:gd name="connsiteY13" fmla="*/ 1536637 h 2781312"/>
              <a:gd name="connsiteX14" fmla="*/ 632215 w 632216"/>
              <a:gd name="connsiteY14" fmla="*/ 1538093 h 2781312"/>
              <a:gd name="connsiteX15" fmla="*/ 632216 w 632216"/>
              <a:gd name="connsiteY15" fmla="*/ 1538100 h 2781312"/>
              <a:gd name="connsiteX16" fmla="*/ 632215 w 632216"/>
              <a:gd name="connsiteY16" fmla="*/ 1538108 h 2781312"/>
              <a:gd name="connsiteX17" fmla="*/ 632215 w 632216"/>
              <a:gd name="connsiteY17" fmla="*/ 2463741 h 2781312"/>
              <a:gd name="connsiteX18" fmla="*/ 632069 w 632216"/>
              <a:gd name="connsiteY18" fmla="*/ 2463741 h 2781312"/>
              <a:gd name="connsiteX19" fmla="*/ 632216 w 632216"/>
              <a:gd name="connsiteY19" fmla="*/ 2465204 h 2781312"/>
              <a:gd name="connsiteX20" fmla="*/ 316108 w 632216"/>
              <a:gd name="connsiteY20" fmla="*/ 2781312 h 2781312"/>
              <a:gd name="connsiteX21" fmla="*/ 0 w 632216"/>
              <a:gd name="connsiteY21" fmla="*/ 2465204 h 2781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2216" h="2781312">
                <a:moveTo>
                  <a:pt x="0" y="2465204"/>
                </a:moveTo>
                <a:lnTo>
                  <a:pt x="147" y="2463741"/>
                </a:lnTo>
                <a:lnTo>
                  <a:pt x="0" y="2463741"/>
                </a:lnTo>
                <a:lnTo>
                  <a:pt x="0" y="1538100"/>
                </a:lnTo>
                <a:lnTo>
                  <a:pt x="0" y="1536637"/>
                </a:lnTo>
                <a:lnTo>
                  <a:pt x="0" y="1243213"/>
                </a:lnTo>
                <a:lnTo>
                  <a:pt x="0" y="316108"/>
                </a:lnTo>
                <a:cubicBezTo>
                  <a:pt x="0" y="141526"/>
                  <a:pt x="141526" y="0"/>
                  <a:pt x="316108" y="0"/>
                </a:cubicBezTo>
                <a:cubicBezTo>
                  <a:pt x="490690" y="0"/>
                  <a:pt x="632216" y="141526"/>
                  <a:pt x="632216" y="316108"/>
                </a:cubicBezTo>
                <a:lnTo>
                  <a:pt x="632215" y="316116"/>
                </a:lnTo>
                <a:lnTo>
                  <a:pt x="632215" y="1243205"/>
                </a:lnTo>
                <a:lnTo>
                  <a:pt x="632216" y="1243213"/>
                </a:lnTo>
                <a:lnTo>
                  <a:pt x="632215" y="1243220"/>
                </a:lnTo>
                <a:lnTo>
                  <a:pt x="632215" y="1536637"/>
                </a:lnTo>
                <a:lnTo>
                  <a:pt x="632215" y="1538093"/>
                </a:lnTo>
                <a:lnTo>
                  <a:pt x="632216" y="1538100"/>
                </a:lnTo>
                <a:lnTo>
                  <a:pt x="632215" y="1538108"/>
                </a:lnTo>
                <a:lnTo>
                  <a:pt x="632215" y="2463741"/>
                </a:lnTo>
                <a:lnTo>
                  <a:pt x="632069" y="2463741"/>
                </a:lnTo>
                <a:lnTo>
                  <a:pt x="632216" y="2465204"/>
                </a:lnTo>
                <a:cubicBezTo>
                  <a:pt x="632216" y="2639786"/>
                  <a:pt x="490690" y="2781312"/>
                  <a:pt x="316108" y="2781312"/>
                </a:cubicBezTo>
                <a:cubicBezTo>
                  <a:pt x="141526" y="2781312"/>
                  <a:pt x="0" y="2639786"/>
                  <a:pt x="0" y="2465204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1" name="직선 연결선[R] 10">
            <a:extLst>
              <a:ext uri="{FF2B5EF4-FFF2-40B4-BE49-F238E27FC236}">
                <a16:creationId xmlns="" xmlns:a16="http://schemas.microsoft.com/office/drawing/2014/main" id="{46660EB4-64EB-1F8F-D4E2-75393B297EAE}"/>
              </a:ext>
            </a:extLst>
          </p:cNvPr>
          <p:cNvCxnSpPr/>
          <p:nvPr/>
        </p:nvCxnSpPr>
        <p:spPr>
          <a:xfrm>
            <a:off x="1" y="4572000"/>
            <a:ext cx="914399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40">
            <a:extLst>
              <a:ext uri="{FF2B5EF4-FFF2-40B4-BE49-F238E27FC236}">
                <a16:creationId xmlns=""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7360541" y="3638550"/>
            <a:ext cx="1392059" cy="1857196"/>
            <a:chOff x="10454594" y="3233348"/>
            <a:chExt cx="1010861" cy="1011469"/>
          </a:xfrm>
        </p:grpSpPr>
        <p:sp>
          <p:nvSpPr>
            <p:cNvPr id="42" name="Freeform 15">
              <a:extLst>
                <a:ext uri="{FF2B5EF4-FFF2-40B4-BE49-F238E27FC236}">
                  <a16:creationId xmlns=""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=""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20">
              <a:extLst>
                <a:ext uri="{FF2B5EF4-FFF2-40B4-BE49-F238E27FC236}">
                  <a16:creationId xmlns=""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7A712132-18E0-F107-629B-FD0FFBC6C211}"/>
              </a:ext>
            </a:extLst>
          </p:cNvPr>
          <p:cNvSpPr txBox="1"/>
          <p:nvPr/>
        </p:nvSpPr>
        <p:spPr>
          <a:xfrm>
            <a:off x="6375369" y="5236344"/>
            <a:ext cx="1446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x-none" sz="1400" dirty="0">
                <a:solidFill>
                  <a:schemeClr val="bg1"/>
                </a:solidFill>
                <a:latin typeface="+mj-lt"/>
                <a:ea typeface="NEXON Lv2 Gothic Bold" pitchFamily="2" charset="-127"/>
              </a:rPr>
              <a:t>START</a:t>
            </a:r>
            <a:endParaRPr kumimoji="1" lang="x-none" altLang="en-US" sz="1400">
              <a:solidFill>
                <a:schemeClr val="bg1"/>
              </a:solidFill>
              <a:latin typeface="+mj-lt"/>
              <a:ea typeface="NEXON Lv2 Gothic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703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6688393" y="-2"/>
            <a:ext cx="2455607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4171950" y="-2"/>
            <a:ext cx="2516444" cy="68580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5929322" y="4214818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=""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=""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=""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4261659" y="1106296"/>
            <a:ext cx="48823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solidFill>
                  <a:schemeClr val="accent1">
                    <a:lumMod val="50000"/>
                  </a:schemeClr>
                </a:solidFill>
              </a:rPr>
              <a:t>Օպտիմալացման գործընթացների չափայնության նվազեցման միջոցի մշակման նշանակությունը</a:t>
            </a:r>
            <a:endParaRPr lang="ru-RU" sz="3200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ru-RU" sz="3200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-2617" y="504918"/>
            <a:ext cx="417815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hy-AM" sz="2400" dirty="0" smtClean="0"/>
              <a:t>       </a:t>
            </a:r>
            <a:r>
              <a:rPr lang="hy-AM" sz="2800" dirty="0" smtClean="0">
                <a:solidFill>
                  <a:schemeClr val="accent1">
                    <a:lumMod val="50000"/>
                  </a:schemeClr>
                </a:solidFill>
              </a:rPr>
              <a:t>Նշանակում է գտնել մեթոդներ, որոնք օգնում են արդյունավետ լուծել բարդ խնդիրներ՝ նվազեցնելով այդ խնդիրների պարամետրերի կամ փոփոխականների քանակը, առանց էականորեն կորցնելու կարևոր տեղեկատվություն</a:t>
            </a:r>
            <a:endParaRPr lang="ru-RU" sz="2800" dirty="0">
              <a:solidFill>
                <a:schemeClr val="accent1">
                  <a:lumMod val="50000"/>
                </a:schemeClr>
              </a:solidFill>
              <a:latin typeface="Sylfaen" pitchFamily="18" charset="0"/>
            </a:endParaRPr>
          </a:p>
        </p:txBody>
      </p:sp>
      <p:grpSp>
        <p:nvGrpSpPr>
          <p:cNvPr id="21" name="그룹 8">
            <a:extLst>
              <a:ext uri="{FF2B5EF4-FFF2-40B4-BE49-F238E27FC236}">
                <a16:creationId xmlns=""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6200000">
            <a:off x="7724796" y="-61938"/>
            <a:ext cx="571504" cy="1714512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22" name="Oval 100">
              <a:extLst>
                <a:ext uri="{FF2B5EF4-FFF2-40B4-BE49-F238E27FC236}">
                  <a16:creationId xmlns=""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4" name="Oval 101">
              <a:extLst>
                <a:ext uri="{FF2B5EF4-FFF2-40B4-BE49-F238E27FC236}">
                  <a16:creationId xmlns=""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5" name="Oval 102">
              <a:extLst>
                <a:ext uri="{FF2B5EF4-FFF2-40B4-BE49-F238E27FC236}">
                  <a16:creationId xmlns=""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6" name="Oval 103">
              <a:extLst>
                <a:ext uri="{FF2B5EF4-FFF2-40B4-BE49-F238E27FC236}">
                  <a16:creationId xmlns=""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7" name="Oval 104">
              <a:extLst>
                <a:ext uri="{FF2B5EF4-FFF2-40B4-BE49-F238E27FC236}">
                  <a16:creationId xmlns=""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8" name="Oval 105">
              <a:extLst>
                <a:ext uri="{FF2B5EF4-FFF2-40B4-BE49-F238E27FC236}">
                  <a16:creationId xmlns=""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9" name="Oval 106">
              <a:extLst>
                <a:ext uri="{FF2B5EF4-FFF2-40B4-BE49-F238E27FC236}">
                  <a16:creationId xmlns=""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0" name="Oval 107">
              <a:extLst>
                <a:ext uri="{FF2B5EF4-FFF2-40B4-BE49-F238E27FC236}">
                  <a16:creationId xmlns=""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1" name="Oval 108">
              <a:extLst>
                <a:ext uri="{FF2B5EF4-FFF2-40B4-BE49-F238E27FC236}">
                  <a16:creationId xmlns=""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Oval 109">
              <a:extLst>
                <a:ext uri="{FF2B5EF4-FFF2-40B4-BE49-F238E27FC236}">
                  <a16:creationId xmlns=""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599236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78DD0A35-F8DA-40E5-F751-30A19DDD69B7}"/>
              </a:ext>
            </a:extLst>
          </p:cNvPr>
          <p:cNvSpPr/>
          <p:nvPr/>
        </p:nvSpPr>
        <p:spPr>
          <a:xfrm>
            <a:off x="3742772" y="-2"/>
            <a:ext cx="1686478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00E6BB52-0ECC-E3A7-57AF-00D28E86C3C7}"/>
              </a:ext>
            </a:extLst>
          </p:cNvPr>
          <p:cNvSpPr/>
          <p:nvPr/>
        </p:nvSpPr>
        <p:spPr>
          <a:xfrm>
            <a:off x="1" y="0"/>
            <a:ext cx="374609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6" name="그림 개체 틀 5">
            <a:extLst>
              <a:ext uri="{FF2B5EF4-FFF2-40B4-BE49-F238E27FC236}">
                <a16:creationId xmlns="" xmlns:a16="http://schemas.microsoft.com/office/drawing/2014/main" id="{3548019A-457A-9D4E-1A7E-3AC6653324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 t="1511" b="1511"/>
          <a:stretch>
            <a:fillRect/>
          </a:stretch>
        </p:blipFill>
        <p:spPr>
          <a:xfrm>
            <a:off x="2357422" y="1"/>
            <a:ext cx="3081337" cy="5072074"/>
          </a:xfrm>
        </p:spPr>
      </p:pic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670E5614-D831-A4BA-AE98-5C73769A0E11}"/>
              </a:ext>
            </a:extLst>
          </p:cNvPr>
          <p:cNvGrpSpPr/>
          <p:nvPr/>
        </p:nvGrpSpPr>
        <p:grpSpPr>
          <a:xfrm rot="5400000">
            <a:off x="-1195725" y="1776198"/>
            <a:ext cx="4090217" cy="537827"/>
            <a:chOff x="8019974" y="1715763"/>
            <a:chExt cx="2820806" cy="320306"/>
          </a:xfrm>
        </p:grpSpPr>
        <p:sp>
          <p:nvSpPr>
            <p:cNvPr id="4" name="Rectangle 309">
              <a:extLst>
                <a:ext uri="{FF2B5EF4-FFF2-40B4-BE49-F238E27FC236}">
                  <a16:creationId xmlns="" xmlns:a16="http://schemas.microsoft.com/office/drawing/2014/main" id="{F8D56E7E-A4A0-5CB9-8987-44010F566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9974" y="1715763"/>
              <a:ext cx="2389881" cy="8556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" name="Rectangle 310">
              <a:extLst>
                <a:ext uri="{FF2B5EF4-FFF2-40B4-BE49-F238E27FC236}">
                  <a16:creationId xmlns="" xmlns:a16="http://schemas.microsoft.com/office/drawing/2014/main" id="{4BD42CC6-13B9-6595-F3AB-DA8484665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6374" y="1950502"/>
              <a:ext cx="1514406" cy="8556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88B93D0-C2D4-41EB-BD6A-1E548A2A0DE2}"/>
              </a:ext>
            </a:extLst>
          </p:cNvPr>
          <p:cNvSpPr txBox="1"/>
          <p:nvPr/>
        </p:nvSpPr>
        <p:spPr>
          <a:xfrm>
            <a:off x="0" y="5000636"/>
            <a:ext cx="5405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solidFill>
                  <a:schemeClr val="accent1">
                    <a:lumMod val="50000"/>
                  </a:schemeClr>
                </a:solidFill>
                <a:latin typeface="Sylfaen" pitchFamily="18" charset="0"/>
              </a:rPr>
              <a:t>ՕՊՏԻՄԱԼԱՑՄԱՆ ԸՆԴՀԱՆՈՒՐ ՀԱՍԿԱՑՈՒԹՅՈՒՆԸ</a:t>
            </a:r>
            <a:endParaRPr kumimoji="1" lang="x-none" altLang="en-US" sz="3200" dirty="0">
              <a:solidFill>
                <a:schemeClr val="accent1">
                  <a:lumMod val="50000"/>
                </a:schemeClr>
              </a:solidFill>
              <a:effectLst>
                <a:outerShdw blurRad="314867" sx="102000" sy="102000" algn="ctr" rotWithShape="0">
                  <a:prstClr val="black">
                    <a:alpha val="82000"/>
                  </a:prstClr>
                </a:outerShdw>
              </a:effectLst>
              <a:latin typeface="Sylfaen" pitchFamily="18" charset="0"/>
              <a:ea typeface="NEXON Lv2 Gothic 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AF20C67-D58F-3872-8D7C-CEABED8557D2}"/>
              </a:ext>
            </a:extLst>
          </p:cNvPr>
          <p:cNvSpPr txBox="1"/>
          <p:nvPr/>
        </p:nvSpPr>
        <p:spPr>
          <a:xfrm>
            <a:off x="5424153" y="78423"/>
            <a:ext cx="371474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 smtClean="0">
                <a:solidFill>
                  <a:schemeClr val="accent1">
                    <a:lumMod val="50000"/>
                  </a:schemeClr>
                </a:solidFill>
              </a:rPr>
              <a:t>Օպտիմալացումը մաթեմատիկական և ինժեներական գործընթաց է, որի նպատակն է որոշակի նպատակի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ru-RU" sz="2400" dirty="0" err="1" smtClean="0">
                <a:solidFill>
                  <a:schemeClr val="accent1">
                    <a:lumMod val="50000"/>
                  </a:schemeClr>
                </a:solidFill>
              </a:rPr>
              <a:t>objective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>
              <a:rPr lang="ru-RU" sz="2400" dirty="0" err="1" smtClean="0">
                <a:solidFill>
                  <a:schemeClr val="accent1">
                    <a:lumMod val="50000"/>
                  </a:schemeClr>
                </a:solidFill>
              </a:rPr>
              <a:t>գործառույթ առավելագույնի կամ նվազագույնի հասցնել՝ որոշակի պայմանների ներքո։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400" dirty="0" err="1" smtClean="0">
                <a:solidFill>
                  <a:schemeClr val="accent1">
                    <a:lumMod val="50000"/>
                  </a:schemeClr>
                </a:solidFill>
              </a:rPr>
              <a:t>Օպտիմալացման խնդիրներն ունեն լայն կիրառություն՝ արդյունաբերության, տնտեսագիտության, կենսաբժշկության, մեքենայական ուսուցման և այլ ոլորտներում։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6983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7143768" y="0"/>
            <a:ext cx="2000232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5357818" y="0"/>
            <a:ext cx="2516444" cy="68580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4" name="그룹 7">
            <a:extLst>
              <a:ext uri="{FF2B5EF4-FFF2-40B4-BE49-F238E27FC236}">
                <a16:creationId xmlns=""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7143768" y="4286256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=""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=""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=""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8" name="그룹 8">
            <a:extLst>
              <a:ext uri="{FF2B5EF4-FFF2-40B4-BE49-F238E27FC236}">
                <a16:creationId xmlns=""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6200000">
            <a:off x="7572396" y="-214338"/>
            <a:ext cx="571504" cy="1714512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=""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Oval 101">
              <a:extLst>
                <a:ext uri="{FF2B5EF4-FFF2-40B4-BE49-F238E27FC236}">
                  <a16:creationId xmlns=""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Oval 102">
              <a:extLst>
                <a:ext uri="{FF2B5EF4-FFF2-40B4-BE49-F238E27FC236}">
                  <a16:creationId xmlns=""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3" name="Oval 103">
              <a:extLst>
                <a:ext uri="{FF2B5EF4-FFF2-40B4-BE49-F238E27FC236}">
                  <a16:creationId xmlns=""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04">
              <a:extLst>
                <a:ext uri="{FF2B5EF4-FFF2-40B4-BE49-F238E27FC236}">
                  <a16:creationId xmlns=""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5" name="Oval 105">
              <a:extLst>
                <a:ext uri="{FF2B5EF4-FFF2-40B4-BE49-F238E27FC236}">
                  <a16:creationId xmlns=""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6" name="Oval 106">
              <a:extLst>
                <a:ext uri="{FF2B5EF4-FFF2-40B4-BE49-F238E27FC236}">
                  <a16:creationId xmlns=""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7" name="Oval 107">
              <a:extLst>
                <a:ext uri="{FF2B5EF4-FFF2-40B4-BE49-F238E27FC236}">
                  <a16:creationId xmlns=""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8" name="Oval 108">
              <a:extLst>
                <a:ext uri="{FF2B5EF4-FFF2-40B4-BE49-F238E27FC236}">
                  <a16:creationId xmlns=""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9" name="Oval 109">
              <a:extLst>
                <a:ext uri="{FF2B5EF4-FFF2-40B4-BE49-F238E27FC236}">
                  <a16:creationId xmlns=""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5357818" y="1106296"/>
            <a:ext cx="378618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err="1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Բարձր չափայնության խնդիրներ և դրանց ազդեցությունը</a:t>
            </a:r>
            <a:endParaRPr lang="ru-RU" sz="3600" b="1" dirty="0" smtClean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ru-RU" sz="3200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-2618" y="504918"/>
            <a:ext cx="536043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Հաշվարկային բարդության աճ</a:t>
            </a:r>
            <a:endParaRPr lang="hy-AM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</a:rPr>
              <a:t> 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Երբ փոփոխականների կամ տվյալների քանակը մեծանում է, ալգորիթմի հաշվարկային բարդությունը</a:t>
            </a:r>
            <a:r>
              <a:rPr lang="ru-RU" sz="1400" b="1" dirty="0" err="1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նույնպես աճում է</a:t>
            </a:r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</a:rPr>
              <a:t>։</a:t>
            </a:r>
          </a:p>
          <a:p>
            <a:pPr marL="457200" indent="-457200"/>
            <a:endParaRPr lang="hy-AM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Անիծյալ չափայնության խնդիրը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hy-AM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</a:rPr>
              <a:t>  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Բարձր չափայնությամբ խնդիրները կարող են բախվել ևս մեկ խնդրի՝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 «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անիծյալ չափայնության խնդիրը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»,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որտեղ տվյալների տարածության մեջ հեռավորությունները աղավաղվում են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և հարևանության հասկացությունը կորցնում է իմաստը։</a:t>
            </a:r>
            <a:endParaRPr lang="hy-AM" sz="14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/>
            <a:endParaRPr lang="hy-AM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Գերհարմարեցում</a:t>
            </a:r>
            <a:endParaRPr lang="hy-AM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</a:rPr>
              <a:t>  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Բարձր չափայնության դեպքում հնարավոր է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որ մոդելը միտված լինի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 «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գերհարմարեցմանը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»,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ինչը նշանակում է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որ այն շատ լավ է հարմարվում ուսուցման տվյալներին՝ այնուամենայնիվ չի կարողանում ճիշտ ընդհանրացնել և բալանսավորված կերպով աշխատել նոր տվյալների վրա։</a:t>
            </a:r>
            <a:endParaRPr lang="ru-RU" sz="14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/>
            <a:endParaRPr lang="hy-AM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Վերլուծական անհարմարություն</a:t>
            </a:r>
            <a:endParaRPr lang="hy-AM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</a:rPr>
              <a:t>  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Բարձր չափայնության դեպքում դժվարանում է տվյալների վիզուալիզացիան և ինտուիտիվ վերլուծությունը։</a:t>
            </a:r>
            <a:r>
              <a:rPr lang="ru-RU" sz="14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Մեծ թվով չափանիշներ ավելացնելու արդյունքում պատկերը դառնում է ավելի համալիրված և դժվար ճանաչելի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</a:rPr>
              <a:t>ինչը դժվարացնում է մոդելների մեկնաբանությունը և տվյալների առավելությունը։</a:t>
            </a:r>
            <a:endParaRPr lang="ru-RU" sz="14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/>
            <a:endParaRPr lang="ru-RU" sz="14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9236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7143768" y="0"/>
            <a:ext cx="2000232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5357818" y="0"/>
            <a:ext cx="2516444" cy="68580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4" name="그룹 7">
            <a:extLst>
              <a:ext uri="{FF2B5EF4-FFF2-40B4-BE49-F238E27FC236}">
                <a16:creationId xmlns=""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7143768" y="4286256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=""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=""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=""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8" name="그룹 8">
            <a:extLst>
              <a:ext uri="{FF2B5EF4-FFF2-40B4-BE49-F238E27FC236}">
                <a16:creationId xmlns=""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6200000">
            <a:off x="7572396" y="-214338"/>
            <a:ext cx="571504" cy="1714512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=""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Oval 101">
              <a:extLst>
                <a:ext uri="{FF2B5EF4-FFF2-40B4-BE49-F238E27FC236}">
                  <a16:creationId xmlns=""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Oval 102">
              <a:extLst>
                <a:ext uri="{FF2B5EF4-FFF2-40B4-BE49-F238E27FC236}">
                  <a16:creationId xmlns=""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3" name="Oval 103">
              <a:extLst>
                <a:ext uri="{FF2B5EF4-FFF2-40B4-BE49-F238E27FC236}">
                  <a16:creationId xmlns=""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04">
              <a:extLst>
                <a:ext uri="{FF2B5EF4-FFF2-40B4-BE49-F238E27FC236}">
                  <a16:creationId xmlns=""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5" name="Oval 105">
              <a:extLst>
                <a:ext uri="{FF2B5EF4-FFF2-40B4-BE49-F238E27FC236}">
                  <a16:creationId xmlns=""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6" name="Oval 106">
              <a:extLst>
                <a:ext uri="{FF2B5EF4-FFF2-40B4-BE49-F238E27FC236}">
                  <a16:creationId xmlns=""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7" name="Oval 107">
              <a:extLst>
                <a:ext uri="{FF2B5EF4-FFF2-40B4-BE49-F238E27FC236}">
                  <a16:creationId xmlns=""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8" name="Oval 108">
              <a:extLst>
                <a:ext uri="{FF2B5EF4-FFF2-40B4-BE49-F238E27FC236}">
                  <a16:creationId xmlns=""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9" name="Oval 109">
              <a:extLst>
                <a:ext uri="{FF2B5EF4-FFF2-40B4-BE49-F238E27FC236}">
                  <a16:creationId xmlns=""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5357818" y="1106296"/>
            <a:ext cx="37861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Օպտիմալացման հիմնական մեթոդները</a:t>
            </a:r>
            <a:endParaRPr lang="ru-RU" sz="4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ru-RU" sz="3200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0" y="0"/>
            <a:ext cx="5429256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Գրադիենտային մեթոդներ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hy-AM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Այս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մեթոդները պահանջում են, որ նպատակային ֆունկցիան լինի հարթ </a:t>
            </a:r>
            <a:r>
              <a:rPr lang="ru-RU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smooth</a:t>
            </a:r>
            <a:r>
              <a:rPr lang="ru-RU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և դիֆերենցիալ, որպեսզի հնարավոր լինի ապահովել կայուն և արդյունավետ կոնվերգենցիա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։</a:t>
            </a:r>
            <a:endParaRPr lang="hy-AM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endParaRPr lang="hy-AM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Հյուրիստիկ մեթոդներ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hy-AM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Այս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մեթոդները կարող են գտնել նվազագույն կամ առավելագույն արժեքներ այնպիսի բարդ օպտիմալացման խնդիրներում, որտեղ դասական գրադիենտային մեթոդները դժվարանում են կամ ընդհանրապես չեն գործում։</a:t>
            </a:r>
            <a:endParaRPr lang="ru-RU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endParaRPr lang="hy-AM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Եզակիացման մեթոդներ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hy-AM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Կոնվեքս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օպտիմալացման հիմնական առավելությունն այն է, որ լուծում գտնելիս անհրաժեշտ չէ անհանգստանալ տեղային առավելագույնների կամ նվազագույնների առկայության մասին․</a:t>
            </a:r>
            <a:r>
              <a:rPr lang="ru-RU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որոնվող լուծումն իրապես գլոբալ օպտիմումն է։</a:t>
            </a:r>
            <a:endParaRPr lang="ru-RU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/>
            <a:endParaRPr lang="hy-AM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Չափայնության նվազեցման մեթոդներ</a:t>
            </a:r>
            <a:r>
              <a:rPr lang="hy-AM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Բոլոր այս մեթոդների արդյունավետությունը կարող է զգալիորեն բարելավվել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եթե կիրառվում է տվյալների չափայնության նվազեցում։</a:t>
            </a:r>
            <a:r>
              <a:rPr lang="ru-RU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Դրա միջոցով կարելի է նվազեցնել խնդրի բարդությունը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պահպանելով անհրաժեշտ ճշգրտություն։</a:t>
            </a:r>
            <a:r>
              <a:rPr lang="ru-RU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Չափայնության նվազեցման ամենատարածված մեթոդներից մեկն է</a:t>
            </a:r>
            <a:r>
              <a:rPr lang="ru-RU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PCA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1400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որը թույլ է տալիս տվյալների չափային դեստրուկտուրացման միջոցով նվազեցնել փոփոխականների քանակը՝ պահպանելով հիմնական ինֆորմացիան։</a:t>
            </a:r>
            <a:endParaRPr lang="ru-RU" sz="14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endParaRPr lang="ru-RU" sz="14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/>
            <a:endParaRPr lang="ru-RU" sz="14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9236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923E2DC4-4C91-B4FC-DCDD-E3901D847CCF}"/>
              </a:ext>
            </a:extLst>
          </p:cNvPr>
          <p:cNvSpPr/>
          <p:nvPr/>
        </p:nvSpPr>
        <p:spPr>
          <a:xfrm>
            <a:off x="6688393" y="-2"/>
            <a:ext cx="2455607" cy="6858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5E52A5A5-1AAD-4B80-1EB2-A0CA7584E873}"/>
              </a:ext>
            </a:extLst>
          </p:cNvPr>
          <p:cNvSpPr/>
          <p:nvPr/>
        </p:nvSpPr>
        <p:spPr>
          <a:xfrm>
            <a:off x="4171950" y="-2"/>
            <a:ext cx="2516444" cy="68580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4" name="그림 개체 틀 3">
            <a:extLst>
              <a:ext uri="{FF2B5EF4-FFF2-40B4-BE49-F238E27FC236}">
                <a16:creationId xmlns="" xmlns:a16="http://schemas.microsoft.com/office/drawing/2014/main" id="{1BAD1928-44B7-A30E-2459-4C3B2D661E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 t="6114" b="6114"/>
          <a:stretch>
            <a:fillRect/>
          </a:stretch>
        </p:blipFill>
        <p:spPr/>
      </p:pic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0FE3DA74-5276-FBFE-0125-15C9B0BCA545}"/>
              </a:ext>
            </a:extLst>
          </p:cNvPr>
          <p:cNvGrpSpPr/>
          <p:nvPr/>
        </p:nvGrpSpPr>
        <p:grpSpPr>
          <a:xfrm>
            <a:off x="6620406" y="3685632"/>
            <a:ext cx="1541988" cy="2057221"/>
            <a:chOff x="10454594" y="3233348"/>
            <a:chExt cx="1010861" cy="1011469"/>
          </a:xfrm>
        </p:grpSpPr>
        <p:sp>
          <p:nvSpPr>
            <p:cNvPr id="5" name="Freeform 15">
              <a:extLst>
                <a:ext uri="{FF2B5EF4-FFF2-40B4-BE49-F238E27FC236}">
                  <a16:creationId xmlns="" xmlns:a16="http://schemas.microsoft.com/office/drawing/2014/main" id="{2E86F8DC-7597-5951-5CCF-BE04F1449B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233653"/>
              <a:ext cx="505735" cy="505126"/>
            </a:xfrm>
            <a:custGeom>
              <a:avLst/>
              <a:gdLst>
                <a:gd name="T0" fmla="*/ 0 w 2680"/>
                <a:gd name="T1" fmla="*/ 2089 h 2680"/>
                <a:gd name="T2" fmla="*/ 0 w 2680"/>
                <a:gd name="T3" fmla="*/ 2680 h 2680"/>
                <a:gd name="T4" fmla="*/ 2680 w 2680"/>
                <a:gd name="T5" fmla="*/ 0 h 2680"/>
                <a:gd name="T6" fmla="*/ 2089 w 2680"/>
                <a:gd name="T7" fmla="*/ 0 h 2680"/>
                <a:gd name="T8" fmla="*/ 0 w 2680"/>
                <a:gd name="T9" fmla="*/ 2089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0">
                  <a:moveTo>
                    <a:pt x="0" y="2089"/>
                  </a:moveTo>
                  <a:lnTo>
                    <a:pt x="0" y="2680"/>
                  </a:lnTo>
                  <a:cubicBezTo>
                    <a:pt x="1480" y="2680"/>
                    <a:pt x="2680" y="1480"/>
                    <a:pt x="2680" y="0"/>
                  </a:cubicBezTo>
                  <a:lnTo>
                    <a:pt x="2089" y="0"/>
                  </a:lnTo>
                  <a:cubicBezTo>
                    <a:pt x="2089" y="1154"/>
                    <a:pt x="1154" y="2089"/>
                    <a:pt x="0" y="208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="" xmlns:a16="http://schemas.microsoft.com/office/drawing/2014/main" id="{1BDDCDED-949F-3165-CAED-568562191F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60024" y="3739387"/>
              <a:ext cx="505735" cy="505126"/>
            </a:xfrm>
            <a:custGeom>
              <a:avLst/>
              <a:gdLst>
                <a:gd name="T0" fmla="*/ 2681 w 2681"/>
                <a:gd name="T1" fmla="*/ 2680 h 2680"/>
                <a:gd name="T2" fmla="*/ 2681 w 2681"/>
                <a:gd name="T3" fmla="*/ 2089 h 2680"/>
                <a:gd name="T4" fmla="*/ 591 w 2681"/>
                <a:gd name="T5" fmla="*/ 0 h 2680"/>
                <a:gd name="T6" fmla="*/ 0 w 2681"/>
                <a:gd name="T7" fmla="*/ 0 h 2680"/>
                <a:gd name="T8" fmla="*/ 2681 w 2681"/>
                <a:gd name="T9" fmla="*/ 268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1" h="2680">
                  <a:moveTo>
                    <a:pt x="2681" y="2680"/>
                  </a:moveTo>
                  <a:lnTo>
                    <a:pt x="2681" y="2089"/>
                  </a:lnTo>
                  <a:cubicBezTo>
                    <a:pt x="1527" y="2089"/>
                    <a:pt x="591" y="1154"/>
                    <a:pt x="591" y="0"/>
                  </a:cubicBezTo>
                  <a:lnTo>
                    <a:pt x="0" y="0"/>
                  </a:lnTo>
                  <a:cubicBezTo>
                    <a:pt x="0" y="1480"/>
                    <a:pt x="1200" y="2680"/>
                    <a:pt x="2681" y="268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="" xmlns:a16="http://schemas.microsoft.com/office/drawing/2014/main" id="{E4954A68-F806-846A-E403-946A51A4A32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54594" y="3233348"/>
              <a:ext cx="505735" cy="505735"/>
            </a:xfrm>
            <a:custGeom>
              <a:avLst/>
              <a:gdLst>
                <a:gd name="T0" fmla="*/ 0 w 2680"/>
                <a:gd name="T1" fmla="*/ 0 h 2681"/>
                <a:gd name="T2" fmla="*/ 0 w 2680"/>
                <a:gd name="T3" fmla="*/ 592 h 2681"/>
                <a:gd name="T4" fmla="*/ 2089 w 2680"/>
                <a:gd name="T5" fmla="*/ 2681 h 2681"/>
                <a:gd name="T6" fmla="*/ 2680 w 2680"/>
                <a:gd name="T7" fmla="*/ 2681 h 2681"/>
                <a:gd name="T8" fmla="*/ 0 w 2680"/>
                <a:gd name="T9" fmla="*/ 0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0" h="2681">
                  <a:moveTo>
                    <a:pt x="0" y="0"/>
                  </a:moveTo>
                  <a:lnTo>
                    <a:pt x="0" y="592"/>
                  </a:lnTo>
                  <a:cubicBezTo>
                    <a:pt x="1154" y="592"/>
                    <a:pt x="2089" y="1527"/>
                    <a:pt x="2089" y="2681"/>
                  </a:cubicBezTo>
                  <a:lnTo>
                    <a:pt x="2680" y="2681"/>
                  </a:lnTo>
                  <a:cubicBezTo>
                    <a:pt x="2680" y="1200"/>
                    <a:pt x="148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65D8BD2E-D9E0-A9DB-95C7-57AEE586E98A}"/>
              </a:ext>
            </a:extLst>
          </p:cNvPr>
          <p:cNvGrpSpPr/>
          <p:nvPr/>
        </p:nvGrpSpPr>
        <p:grpSpPr>
          <a:xfrm rot="10800000">
            <a:off x="8361131" y="690702"/>
            <a:ext cx="275966" cy="1088936"/>
            <a:chOff x="10673553" y="2347274"/>
            <a:chExt cx="403152" cy="1193100"/>
          </a:xfrm>
          <a:solidFill>
            <a:schemeClr val="accent4">
              <a:lumMod val="75000"/>
            </a:schemeClr>
          </a:solidFill>
        </p:grpSpPr>
        <p:sp>
          <p:nvSpPr>
            <p:cNvPr id="10" name="Oval 100">
              <a:extLst>
                <a:ext uri="{FF2B5EF4-FFF2-40B4-BE49-F238E27FC236}">
                  <a16:creationId xmlns="" xmlns:a16="http://schemas.microsoft.com/office/drawing/2014/main" id="{62F43B8E-1F40-93F3-8C1F-6C5C452C3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6276" y="3401451"/>
              <a:ext cx="136201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Oval 101">
              <a:extLst>
                <a:ext uri="{FF2B5EF4-FFF2-40B4-BE49-F238E27FC236}">
                  <a16:creationId xmlns="" xmlns:a16="http://schemas.microsoft.com/office/drawing/2014/main" id="{21FB730C-A085-E8BE-9F7D-EB6F268C3A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313722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Oval 102">
              <a:extLst>
                <a:ext uri="{FF2B5EF4-FFF2-40B4-BE49-F238E27FC236}">
                  <a16:creationId xmlns="" xmlns:a16="http://schemas.microsoft.com/office/drawing/2014/main" id="{40ABE35E-D391-A5D5-A488-F319D3092B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875723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Oval 103">
              <a:extLst>
                <a:ext uri="{FF2B5EF4-FFF2-40B4-BE49-F238E27FC236}">
                  <a16:creationId xmlns="" xmlns:a16="http://schemas.microsoft.com/office/drawing/2014/main" id="{F55A2068-9DB0-C667-46A1-1A5943E7B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608777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Oval 104">
              <a:extLst>
                <a:ext uri="{FF2B5EF4-FFF2-40B4-BE49-F238E27FC236}">
                  <a16:creationId xmlns="" xmlns:a16="http://schemas.microsoft.com/office/drawing/2014/main" id="{15CBB6E1-7650-0269-42A5-89E30592A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673553" y="2347274"/>
              <a:ext cx="141646" cy="14164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Oval 105">
              <a:extLst>
                <a:ext uri="{FF2B5EF4-FFF2-40B4-BE49-F238E27FC236}">
                  <a16:creationId xmlns="" xmlns:a16="http://schemas.microsoft.com/office/drawing/2014/main" id="{70830182-DA04-E111-A97B-35C8062ED2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40501" y="3404170"/>
              <a:ext cx="136201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Oval 106">
              <a:extLst>
                <a:ext uri="{FF2B5EF4-FFF2-40B4-BE49-F238E27FC236}">
                  <a16:creationId xmlns="" xmlns:a16="http://schemas.microsoft.com/office/drawing/2014/main" id="{4898DBB2-B1F3-FC31-CD7B-481169FD1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3139948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Oval 107">
              <a:extLst>
                <a:ext uri="{FF2B5EF4-FFF2-40B4-BE49-F238E27FC236}">
                  <a16:creationId xmlns="" xmlns:a16="http://schemas.microsoft.com/office/drawing/2014/main" id="{6E109224-0E76-94EF-8093-6AA2760294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878447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Oval 108">
              <a:extLst>
                <a:ext uri="{FF2B5EF4-FFF2-40B4-BE49-F238E27FC236}">
                  <a16:creationId xmlns="" xmlns:a16="http://schemas.microsoft.com/office/drawing/2014/main" id="{C64C0DE9-77DC-FCF0-1A1F-444931C6E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611501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Oval 109">
              <a:extLst>
                <a:ext uri="{FF2B5EF4-FFF2-40B4-BE49-F238E27FC236}">
                  <a16:creationId xmlns="" xmlns:a16="http://schemas.microsoft.com/office/drawing/2014/main" id="{D2580A21-545E-8C9E-9315-6169F7A592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937782" y="2350000"/>
              <a:ext cx="141646" cy="13620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6D6C9715-F488-209A-ED91-7302C900C830}"/>
              </a:ext>
            </a:extLst>
          </p:cNvPr>
          <p:cNvSpPr txBox="1"/>
          <p:nvPr/>
        </p:nvSpPr>
        <p:spPr>
          <a:xfrm>
            <a:off x="-142908" y="285728"/>
            <a:ext cx="4394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sz="2400" dirty="0" smtClean="0">
                <a:solidFill>
                  <a:schemeClr val="tx2">
                    <a:lumMod val="75000"/>
                  </a:schemeClr>
                </a:solidFill>
              </a:rPr>
              <a:t>ՉԱՓԱՅՆՈՒԹՅԱՆ ՆՎԱԶԵՑՄԱՆ ՆՊԱՏԱԿԸ և ԿԻՐԱՌԵԼԻՈՒԹՅՈՒՆԸ</a:t>
            </a:r>
            <a:endParaRPr lang="ru-RU" sz="2200" dirty="0">
              <a:solidFill>
                <a:schemeClr val="tx2">
                  <a:lumMod val="75000"/>
                </a:schemeClr>
              </a:solidFill>
              <a:latin typeface="Sylfae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EA14EF5-3C9A-3F23-C812-125DAA429501}"/>
              </a:ext>
            </a:extLst>
          </p:cNvPr>
          <p:cNvSpPr txBox="1"/>
          <p:nvPr/>
        </p:nvSpPr>
        <p:spPr>
          <a:xfrm>
            <a:off x="0" y="1500174"/>
            <a:ext cx="4286248" cy="580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hy-AM" dirty="0" smtClean="0">
                <a:solidFill>
                  <a:schemeClr val="tx2">
                    <a:lumMod val="75000"/>
                  </a:schemeClr>
                </a:solidFill>
              </a:rPr>
              <a:t>       Չափայնության </a:t>
            </a:r>
            <a:r>
              <a:rPr lang="hy-AM" dirty="0" smtClean="0">
                <a:solidFill>
                  <a:schemeClr val="tx2">
                    <a:lumMod val="75000"/>
                  </a:schemeClr>
                </a:solidFill>
              </a:rPr>
              <a:t>նվազեցումը տվյալների վերամշակման կարևոր փուլ է, որն ուղղված է տվյալների փոփոխականների </a:t>
            </a:r>
            <a:r>
              <a:rPr lang="hy-AM" dirty="0" smtClean="0">
                <a:solidFill>
                  <a:schemeClr val="tx2">
                    <a:lumMod val="75000"/>
                  </a:schemeClr>
                </a:solidFill>
              </a:rPr>
              <a:t>քանակի </a:t>
            </a:r>
            <a:r>
              <a:rPr lang="hy-AM" dirty="0" smtClean="0">
                <a:solidFill>
                  <a:schemeClr val="tx2">
                    <a:lumMod val="75000"/>
                  </a:schemeClr>
                </a:solidFill>
              </a:rPr>
              <a:t>նվազեցմանը՝ նրանց հիմնական կառուցվածքային կամ տեղեկատվական բովանդակությունը պահպանելու նպատակով</a:t>
            </a:r>
            <a:r>
              <a:rPr lang="hy-AM" dirty="0" smtClean="0">
                <a:solidFill>
                  <a:schemeClr val="tx2">
                    <a:lumMod val="75000"/>
                  </a:schemeClr>
                </a:solidFill>
              </a:rPr>
              <a:t>։</a:t>
            </a:r>
          </a:p>
          <a:p>
            <a:pPr marL="342900" indent="-342900"/>
            <a:endParaRPr lang="hy-AM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hy-AM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hy-AM" dirty="0" smtClean="0">
                <a:solidFill>
                  <a:schemeClr val="tx2">
                    <a:lumMod val="75000"/>
                  </a:schemeClr>
                </a:solidFill>
              </a:rPr>
              <a:t>Այս մեթոդները կիրառվում են այն ժամանակ, երբ տվյալների չափերը (կամ առավել հաճախ՝ փոփոխականների քանակը) խոչընդոտում են հաշվարկային գործընթացին կամ առաջացնում են գերաբարդություն, ինչը կարող է շատ խոչընդոտներ ստեղծել օպտիմալացման գործընթացում։</a:t>
            </a:r>
            <a:endParaRPr lang="ru-RU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/>
            <a:endParaRPr lang="ru-RU" sz="2000" dirty="0">
              <a:solidFill>
                <a:schemeClr val="accent4">
                  <a:lumMod val="75000"/>
                </a:schemeClr>
              </a:solidFill>
              <a:latin typeface="Sylfae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9236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>
            <a:extLst>
              <a:ext uri="{FF2B5EF4-FFF2-40B4-BE49-F238E27FC236}">
                <a16:creationId xmlns="" xmlns:a16="http://schemas.microsoft.com/office/drawing/2014/main" id="{668638A8-0CEA-E51A-2D65-FEB77F3389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878" b="7878"/>
          <a:stretch>
            <a:fillRect/>
          </a:stretch>
        </p:blipFill>
        <p:spPr/>
      </p:pic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A52F0F3D-48E0-C4F9-DF21-8C7E58C0CE25}"/>
              </a:ext>
            </a:extLst>
          </p:cNvPr>
          <p:cNvSpPr/>
          <p:nvPr/>
        </p:nvSpPr>
        <p:spPr>
          <a:xfrm>
            <a:off x="0" y="4935794"/>
            <a:ext cx="9144000" cy="1922206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solidFill>
                <a:schemeClr val="accent4">
                  <a:lumMod val="40000"/>
                  <a:lumOff val="60000"/>
                </a:schemeClr>
              </a:solidFill>
              <a:latin typeface="Sylfaen" pitchFamily="18" charset="0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="" xmlns:a16="http://schemas.microsoft.com/office/drawing/2014/main" id="{AB827C6C-3B80-B3F1-3D2F-B183BC853CC8}"/>
              </a:ext>
            </a:extLst>
          </p:cNvPr>
          <p:cNvCxnSpPr/>
          <p:nvPr/>
        </p:nvCxnSpPr>
        <p:spPr>
          <a:xfrm>
            <a:off x="1" y="5161936"/>
            <a:ext cx="914399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8D534BF-1196-FBAE-FD29-4DAB169C75A8}"/>
              </a:ext>
            </a:extLst>
          </p:cNvPr>
          <p:cNvSpPr txBox="1"/>
          <p:nvPr/>
        </p:nvSpPr>
        <p:spPr>
          <a:xfrm>
            <a:off x="4214810" y="285728"/>
            <a:ext cx="464347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hy-AM" altLang="en-US" sz="40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Sylfaen" pitchFamily="18" charset="0"/>
                <a:ea typeface="NEXON Lv2 Gothic Bold" pitchFamily="2" charset="-127"/>
              </a:rPr>
              <a:t>Շնորհակալություն</a:t>
            </a:r>
            <a:endParaRPr kumimoji="1" lang="x-none" altLang="en-US" sz="4000" dirty="0">
              <a:solidFill>
                <a:schemeClr val="tx2">
                  <a:lumMod val="40000"/>
                  <a:lumOff val="60000"/>
                </a:schemeClr>
              </a:solidFill>
              <a:latin typeface="Sylfaen" pitchFamily="18" charset="0"/>
              <a:ea typeface="NEXON Lv2 Gothic Bold" pitchFamily="2" charset="-127"/>
            </a:endParaRPr>
          </a:p>
        </p:txBody>
      </p:sp>
      <p:grpSp>
        <p:nvGrpSpPr>
          <p:cNvPr id="2" name="그룹 12">
            <a:extLst>
              <a:ext uri="{FF2B5EF4-FFF2-40B4-BE49-F238E27FC236}">
                <a16:creationId xmlns="" xmlns:a16="http://schemas.microsoft.com/office/drawing/2014/main" id="{32F169B3-98A1-1F7E-C02A-726215BFE1E8}"/>
              </a:ext>
            </a:extLst>
          </p:cNvPr>
          <p:cNvGrpSpPr/>
          <p:nvPr/>
        </p:nvGrpSpPr>
        <p:grpSpPr>
          <a:xfrm>
            <a:off x="4143373" y="428602"/>
            <a:ext cx="4797883" cy="414424"/>
            <a:chOff x="1236436" y="2620310"/>
            <a:chExt cx="11014401" cy="1223127"/>
          </a:xfrm>
          <a:solidFill>
            <a:schemeClr val="accent4"/>
          </a:solidFill>
        </p:grpSpPr>
        <p:sp>
          <p:nvSpPr>
            <p:cNvPr id="11" name="Rectangle 28">
              <a:extLst>
                <a:ext uri="{FF2B5EF4-FFF2-40B4-BE49-F238E27FC236}">
                  <a16:creationId xmlns="" xmlns:a16="http://schemas.microsoft.com/office/drawing/2014/main" id="{62221EEE-7859-B7FB-C9EA-C52D716A45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0117" y="3136629"/>
              <a:ext cx="1223123" cy="1904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Rectangle 29">
              <a:extLst>
                <a:ext uri="{FF2B5EF4-FFF2-40B4-BE49-F238E27FC236}">
                  <a16:creationId xmlns="" xmlns:a16="http://schemas.microsoft.com/office/drawing/2014/main" id="{C9E01054-FFFA-E00D-4F9E-EC4C489BDD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544032" y="3136632"/>
              <a:ext cx="1223124" cy="19048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895279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443</Words>
  <Application>Microsoft Office PowerPoint</Application>
  <PresentationFormat>Экран (4:3)</PresentationFormat>
  <Paragraphs>39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28</cp:revision>
  <dcterms:created xsi:type="dcterms:W3CDTF">2024-04-19T09:52:28Z</dcterms:created>
  <dcterms:modified xsi:type="dcterms:W3CDTF">2025-12-02T14:29:15Z</dcterms:modified>
</cp:coreProperties>
</file>