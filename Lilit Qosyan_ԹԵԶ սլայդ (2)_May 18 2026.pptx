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76" r:id="rId7"/>
    <p:sldId id="277" r:id="rId8"/>
    <p:sldId id="278" r:id="rId9"/>
    <p:sldId id="272" r:id="rId10"/>
    <p:sldId id="274" r:id="rId11"/>
    <p:sldId id="271" r:id="rId12"/>
    <p:sldId id="266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4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5" autoAdjust="0"/>
    <p:restoredTop sz="94767"/>
  </p:normalViewPr>
  <p:slideViewPr>
    <p:cSldViewPr>
      <p:cViewPr varScale="1">
        <p:scale>
          <a:sx n="113" d="100"/>
          <a:sy n="113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it Qosyan" userId="68002f05c3018e6f" providerId="LiveId" clId="{6CA11C36-77AA-5C00-85EA-3BA7CE2C1038}"/>
    <pc:docChg chg="modSld">
      <pc:chgData name="Lilit Qosyan" userId="68002f05c3018e6f" providerId="LiveId" clId="{6CA11C36-77AA-5C00-85EA-3BA7CE2C1038}" dt="2026-05-19T05:33:47.848" v="1" actId="1076"/>
      <pc:docMkLst>
        <pc:docMk/>
      </pc:docMkLst>
      <pc:sldChg chg="modSp mod">
        <pc:chgData name="Lilit Qosyan" userId="68002f05c3018e6f" providerId="LiveId" clId="{6CA11C36-77AA-5C00-85EA-3BA7CE2C1038}" dt="2026-05-19T05:33:47.848" v="1" actId="1076"/>
        <pc:sldMkLst>
          <pc:docMk/>
          <pc:sldMk cId="3362493567" sldId="271"/>
        </pc:sldMkLst>
        <pc:spChg chg="mod">
          <ac:chgData name="Lilit Qosyan" userId="68002f05c3018e6f" providerId="LiveId" clId="{6CA11C36-77AA-5C00-85EA-3BA7CE2C1038}" dt="2026-05-19T05:33:47.848" v="1" actId="1076"/>
          <ac:spMkLst>
            <pc:docMk/>
            <pc:sldMk cId="3362493567" sldId="271"/>
            <ac:spMk id="9" creationId="{7D9D9A78-E21B-5D13-4B8E-98C0F8B716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63A6D0F9-1994-6F98-2BBC-161F1EA90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1752600"/>
          </a:xfrm>
        </p:spPr>
        <p:txBody>
          <a:bodyPr/>
          <a:lstStyle/>
          <a:p>
            <a:endParaRPr kumimoji="1" lang="x-none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70CB0482-3A57-3D12-AD5F-4CAE9B106D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09" y="3200400"/>
            <a:ext cx="8211383" cy="3057525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5A7A6B-4953-60DE-D491-0E7D4F0BA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309" y="2216665"/>
            <a:ext cx="8211383" cy="8599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4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36343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08C7576-2057-11D0-FD41-FB207F75F3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44000" cy="68580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8739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44B08C53-64C3-25BB-01E5-4F302EC1D6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1950" y="603250"/>
            <a:ext cx="3219450" cy="56515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63011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79330D8A-E28F-0115-E780-18CB77007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6475" y="-1"/>
            <a:ext cx="3152775" cy="6115665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3080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>
            <a:extLst>
              <a:ext uri="{FF2B5EF4-FFF2-40B4-BE49-F238E27FC236}">
                <a16:creationId xmlns:a16="http://schemas.microsoft.com/office/drawing/2014/main" id="{7CB64019-EFD1-5FD5-CEA9-5AEDD8E02E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6913" b="36913"/>
          <a:stretch>
            <a:fillRect/>
          </a:stretch>
        </p:blipFill>
        <p:spPr/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A850B12-8B47-3E72-FF20-0A219A711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07" y="3375050"/>
            <a:ext cx="8211383" cy="1209281"/>
          </a:xfrm>
        </p:spPr>
        <p:txBody>
          <a:bodyPr>
            <a:noAutofit/>
          </a:bodyPr>
          <a:lstStyle/>
          <a:p>
            <a:pPr algn="ctr"/>
            <a:r>
              <a:rPr lang="hy-AM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Օպտիմալացման գործընթացների չափայնության նվազեցման միջոցի մշակում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188213C-A761-425D-5F00-DDD052874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053853"/>
            <a:ext cx="9143999" cy="1107862"/>
          </a:xfrm>
        </p:spPr>
        <p:txBody>
          <a:bodyPr/>
          <a:lstStyle/>
          <a:p>
            <a:pPr algn="ctr"/>
            <a:r>
              <a:rPr lang="hy-AM" sz="3200" dirty="0">
                <a:solidFill>
                  <a:schemeClr val="bg1">
                    <a:lumMod val="50000"/>
                  </a:schemeClr>
                </a:solidFill>
                <a:latin typeface="Sylfaen" panose="010A0502050306030303" pitchFamily="18" charset="0"/>
              </a:rPr>
              <a:t>Հայաստանի Ազգային Պոլիտեխնիկական Համալսարան</a:t>
            </a:r>
            <a:endParaRPr lang="en-US" sz="3200" dirty="0">
              <a:solidFill>
                <a:schemeClr val="bg1">
                  <a:lumMod val="50000"/>
                </a:schemeClr>
              </a:solidFill>
              <a:latin typeface="Sylfaen" panose="010A0502050306030303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9B4FCBFF-C3A9-EFAA-DD04-5EF062854338}"/>
              </a:ext>
            </a:extLst>
          </p:cNvPr>
          <p:cNvCxnSpPr/>
          <p:nvPr/>
        </p:nvCxnSpPr>
        <p:spPr>
          <a:xfrm>
            <a:off x="1" y="1887794"/>
            <a:ext cx="914399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596" y="4929198"/>
            <a:ext cx="6929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y-AM" dirty="0">
                <a:latin typeface="Sylfaen" panose="010A0502050306030303" pitchFamily="18" charset="0"/>
              </a:rPr>
              <a:t>Ֆակուլտետ՝ 	Կիրառական Մաթեմատիկա և Ֆիզիկա</a:t>
            </a:r>
          </a:p>
          <a:p>
            <a:pPr algn="just"/>
            <a:r>
              <a:rPr lang="hy-AM" dirty="0">
                <a:latin typeface="Sylfaen" panose="010A0502050306030303" pitchFamily="18" charset="0"/>
              </a:rPr>
              <a:t>Խումբ՝ 		ՄՄԹ-4</a:t>
            </a:r>
            <a:r>
              <a:rPr lang="en-US" dirty="0">
                <a:latin typeface="Sylfaen" panose="010A0502050306030303" pitchFamily="18" charset="0"/>
              </a:rPr>
              <a:t>40</a:t>
            </a:r>
            <a:endParaRPr lang="hy-AM" dirty="0">
              <a:latin typeface="Sylfaen" panose="010A0502050306030303" pitchFamily="18" charset="0"/>
            </a:endParaRPr>
          </a:p>
          <a:p>
            <a:pPr algn="just"/>
            <a:r>
              <a:rPr lang="hy-AM" dirty="0">
                <a:latin typeface="Sylfaen" panose="010A0502050306030303" pitchFamily="18" charset="0"/>
              </a:rPr>
              <a:t>Ուսանողուհի՝ 	Քոսյան Լիլիթ</a:t>
            </a:r>
          </a:p>
          <a:p>
            <a:pPr algn="just"/>
            <a:r>
              <a:rPr lang="hy-AM" dirty="0">
                <a:latin typeface="Sylfaen" panose="010A0502050306030303" pitchFamily="18" charset="0"/>
              </a:rPr>
              <a:t>Ղեկավար՝ 	տ․գ․թ․, դոցենտ Գայանե Մարկոսյան</a:t>
            </a:r>
            <a:endParaRPr lang="ru-RU" dirty="0"/>
          </a:p>
        </p:txBody>
      </p:sp>
      <p:sp>
        <p:nvSpPr>
          <p:cNvPr id="12" name="Rectangle 309">
            <a:extLst>
              <a:ext uri="{FF2B5EF4-FFF2-40B4-BE49-F238E27FC236}">
                <a16:creationId xmlns:a16="http://schemas.microsoft.com/office/drawing/2014/main" id="{F8D56E7E-A4A0-5CB9-8987-44010F56631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8" y="4714884"/>
            <a:ext cx="8320532" cy="827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Rectangle 310">
            <a:extLst>
              <a:ext uri="{FF2B5EF4-FFF2-40B4-BE49-F238E27FC236}">
                <a16:creationId xmlns:a16="http://schemas.microsoft.com/office/drawing/2014/main" id="{4BD42CC6-13B9-6595-F3AB-DA848466561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7" y="3286123"/>
            <a:ext cx="8320532" cy="1548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05869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4AB835-FD89-8F9E-DE96-F836B99A0BE5}"/>
              </a:ext>
            </a:extLst>
          </p:cNvPr>
          <p:cNvSpPr/>
          <p:nvPr/>
        </p:nvSpPr>
        <p:spPr>
          <a:xfrm>
            <a:off x="0" y="3979334"/>
            <a:ext cx="9144000" cy="28786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FD82BC86-0A34-2488-E62F-214479F547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510" b="8510"/>
          <a:stretch>
            <a:fillRect/>
          </a:stretch>
        </p:blipFill>
        <p:spPr/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903C89-5D84-1DF5-B196-A4B944929EB1}"/>
              </a:ext>
            </a:extLst>
          </p:cNvPr>
          <p:cNvSpPr/>
          <p:nvPr/>
        </p:nvSpPr>
        <p:spPr>
          <a:xfrm>
            <a:off x="0" y="4336026"/>
            <a:ext cx="9144000" cy="2521974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7A3BF33E-98E2-0366-5D13-78F1EA38BFE8}"/>
              </a:ext>
            </a:extLst>
          </p:cNvPr>
          <p:cNvSpPr/>
          <p:nvPr/>
        </p:nvSpPr>
        <p:spPr>
          <a:xfrm rot="5400000">
            <a:off x="6741909" y="4347240"/>
            <a:ext cx="632216" cy="2085984"/>
          </a:xfrm>
          <a:custGeom>
            <a:avLst/>
            <a:gdLst>
              <a:gd name="connsiteX0" fmla="*/ 0 w 632216"/>
              <a:gd name="connsiteY0" fmla="*/ 2465204 h 2781312"/>
              <a:gd name="connsiteX1" fmla="*/ 147 w 632216"/>
              <a:gd name="connsiteY1" fmla="*/ 2463741 h 2781312"/>
              <a:gd name="connsiteX2" fmla="*/ 0 w 632216"/>
              <a:gd name="connsiteY2" fmla="*/ 2463741 h 2781312"/>
              <a:gd name="connsiteX3" fmla="*/ 0 w 632216"/>
              <a:gd name="connsiteY3" fmla="*/ 1538100 h 2781312"/>
              <a:gd name="connsiteX4" fmla="*/ 0 w 632216"/>
              <a:gd name="connsiteY4" fmla="*/ 1536637 h 2781312"/>
              <a:gd name="connsiteX5" fmla="*/ 0 w 632216"/>
              <a:gd name="connsiteY5" fmla="*/ 1243213 h 2781312"/>
              <a:gd name="connsiteX6" fmla="*/ 0 w 632216"/>
              <a:gd name="connsiteY6" fmla="*/ 316108 h 2781312"/>
              <a:gd name="connsiteX7" fmla="*/ 316108 w 632216"/>
              <a:gd name="connsiteY7" fmla="*/ 0 h 2781312"/>
              <a:gd name="connsiteX8" fmla="*/ 632216 w 632216"/>
              <a:gd name="connsiteY8" fmla="*/ 316108 h 2781312"/>
              <a:gd name="connsiteX9" fmla="*/ 632215 w 632216"/>
              <a:gd name="connsiteY9" fmla="*/ 316116 h 2781312"/>
              <a:gd name="connsiteX10" fmla="*/ 632215 w 632216"/>
              <a:gd name="connsiteY10" fmla="*/ 1243205 h 2781312"/>
              <a:gd name="connsiteX11" fmla="*/ 632216 w 632216"/>
              <a:gd name="connsiteY11" fmla="*/ 1243213 h 2781312"/>
              <a:gd name="connsiteX12" fmla="*/ 632215 w 632216"/>
              <a:gd name="connsiteY12" fmla="*/ 1243220 h 2781312"/>
              <a:gd name="connsiteX13" fmla="*/ 632215 w 632216"/>
              <a:gd name="connsiteY13" fmla="*/ 1536637 h 2781312"/>
              <a:gd name="connsiteX14" fmla="*/ 632215 w 632216"/>
              <a:gd name="connsiteY14" fmla="*/ 1538093 h 2781312"/>
              <a:gd name="connsiteX15" fmla="*/ 632216 w 632216"/>
              <a:gd name="connsiteY15" fmla="*/ 1538100 h 2781312"/>
              <a:gd name="connsiteX16" fmla="*/ 632215 w 632216"/>
              <a:gd name="connsiteY16" fmla="*/ 1538108 h 2781312"/>
              <a:gd name="connsiteX17" fmla="*/ 632215 w 632216"/>
              <a:gd name="connsiteY17" fmla="*/ 2463741 h 2781312"/>
              <a:gd name="connsiteX18" fmla="*/ 632069 w 632216"/>
              <a:gd name="connsiteY18" fmla="*/ 2463741 h 2781312"/>
              <a:gd name="connsiteX19" fmla="*/ 632216 w 632216"/>
              <a:gd name="connsiteY19" fmla="*/ 2465204 h 2781312"/>
              <a:gd name="connsiteX20" fmla="*/ 316108 w 632216"/>
              <a:gd name="connsiteY20" fmla="*/ 2781312 h 2781312"/>
              <a:gd name="connsiteX21" fmla="*/ 0 w 632216"/>
              <a:gd name="connsiteY21" fmla="*/ 2465204 h 278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2216" h="2781312">
                <a:moveTo>
                  <a:pt x="0" y="2465204"/>
                </a:moveTo>
                <a:lnTo>
                  <a:pt x="147" y="2463741"/>
                </a:lnTo>
                <a:lnTo>
                  <a:pt x="0" y="2463741"/>
                </a:lnTo>
                <a:lnTo>
                  <a:pt x="0" y="1538100"/>
                </a:lnTo>
                <a:lnTo>
                  <a:pt x="0" y="1536637"/>
                </a:lnTo>
                <a:lnTo>
                  <a:pt x="0" y="1243213"/>
                </a:lnTo>
                <a:lnTo>
                  <a:pt x="0" y="316108"/>
                </a:lnTo>
                <a:cubicBezTo>
                  <a:pt x="0" y="141526"/>
                  <a:pt x="141526" y="0"/>
                  <a:pt x="316108" y="0"/>
                </a:cubicBezTo>
                <a:cubicBezTo>
                  <a:pt x="490690" y="0"/>
                  <a:pt x="632216" y="141526"/>
                  <a:pt x="632216" y="316108"/>
                </a:cubicBezTo>
                <a:lnTo>
                  <a:pt x="632215" y="316116"/>
                </a:lnTo>
                <a:lnTo>
                  <a:pt x="632215" y="1243205"/>
                </a:lnTo>
                <a:lnTo>
                  <a:pt x="632216" y="1243213"/>
                </a:lnTo>
                <a:lnTo>
                  <a:pt x="632215" y="1243220"/>
                </a:lnTo>
                <a:lnTo>
                  <a:pt x="632215" y="1536637"/>
                </a:lnTo>
                <a:lnTo>
                  <a:pt x="632215" y="1538093"/>
                </a:lnTo>
                <a:lnTo>
                  <a:pt x="632216" y="1538100"/>
                </a:lnTo>
                <a:lnTo>
                  <a:pt x="632215" y="1538108"/>
                </a:lnTo>
                <a:lnTo>
                  <a:pt x="632215" y="2463741"/>
                </a:lnTo>
                <a:lnTo>
                  <a:pt x="632069" y="2463741"/>
                </a:lnTo>
                <a:lnTo>
                  <a:pt x="632216" y="2465204"/>
                </a:lnTo>
                <a:cubicBezTo>
                  <a:pt x="632216" y="2639786"/>
                  <a:pt x="490690" y="2781312"/>
                  <a:pt x="316108" y="2781312"/>
                </a:cubicBezTo>
                <a:cubicBezTo>
                  <a:pt x="141526" y="2781312"/>
                  <a:pt x="0" y="2639786"/>
                  <a:pt x="0" y="246520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46660EB4-64EB-1F8F-D4E2-75393B297EAE}"/>
              </a:ext>
            </a:extLst>
          </p:cNvPr>
          <p:cNvCxnSpPr/>
          <p:nvPr/>
        </p:nvCxnSpPr>
        <p:spPr>
          <a:xfrm>
            <a:off x="1" y="4572000"/>
            <a:ext cx="91439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40">
            <a:extLst>
              <a:ext uri="{FF2B5EF4-FFF2-40B4-BE49-F238E27FC236}">
                <a16:creationId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360541" y="3638550"/>
            <a:ext cx="1392059" cy="1857196"/>
            <a:chOff x="10454594" y="3233348"/>
            <a:chExt cx="1010861" cy="1011469"/>
          </a:xfrm>
        </p:grpSpPr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44" name="Freeform 20">
              <a:extLst>
                <a:ext uri="{FF2B5EF4-FFF2-40B4-BE49-F238E27FC236}">
                  <a16:creationId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712132-18E0-F107-629B-FD0FFBC6C211}"/>
              </a:ext>
            </a:extLst>
          </p:cNvPr>
          <p:cNvSpPr txBox="1"/>
          <p:nvPr/>
        </p:nvSpPr>
        <p:spPr>
          <a:xfrm>
            <a:off x="6375369" y="5236344"/>
            <a:ext cx="1446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x-none" sz="1400" dirty="0">
                <a:solidFill>
                  <a:schemeClr val="bg1"/>
                </a:solidFill>
                <a:latin typeface="+mj-lt"/>
                <a:ea typeface="NEXON Lv2 Gothic Bold" pitchFamily="2" charset="-127"/>
              </a:rPr>
              <a:t>START</a:t>
            </a:r>
            <a:endParaRPr kumimoji="1" lang="x-none" altLang="en-US" sz="1400">
              <a:solidFill>
                <a:schemeClr val="bg1"/>
              </a:solidFill>
              <a:latin typeface="+mj-lt"/>
              <a:ea typeface="NEXON Lv2 Gothic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70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ru-RU" sz="4400" b="1" kern="1200">
                <a:latin typeface="+mj-lt"/>
                <a:ea typeface="+mj-ea"/>
                <a:cs typeface="+mj-cs"/>
              </a:rPr>
              <a:t>Ի՞նչ է օպտիմալացումը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ru-RU" sz="4400" kern="1200">
              <a:latin typeface="+mj-lt"/>
              <a:ea typeface="+mj-ea"/>
              <a:cs typeface="+mj-c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E31542A-8D50-D56E-25EC-5EFC857BD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2" b="967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23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8B93D0-C2D4-41EB-BD6A-1E548A2A0DE2}"/>
              </a:ext>
            </a:extLst>
          </p:cNvPr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kumimoji="1" lang="ru-RU" altLang="en-US" sz="4400" b="1" kern="1200">
                <a:effectLst>
                  <a:outerShdw blurRad="314867" sx="102000" sy="102000" algn="ctr" rotWithShape="0">
                    <a:prstClr val="black">
                      <a:alpha val="82000"/>
                    </a:prstClr>
                  </a:outerShdw>
                </a:effectLst>
                <a:latin typeface="+mj-lt"/>
                <a:ea typeface="+mj-ea"/>
                <a:cs typeface="+mj-cs"/>
              </a:rPr>
              <a:t>ՉԱՓԱՅՆՈՒԹՅԱՆ ԱՆԵԾՔ</a:t>
            </a:r>
            <a:endParaRPr kumimoji="1" lang="ru-RU" altLang="en-US" sz="4400" kern="1200">
              <a:effectLst>
                <a:outerShdw blurRad="314867" sx="102000" sy="102000" algn="ctr" rotWithShape="0">
                  <a:prstClr val="black">
                    <a:alpha val="82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46F93E-D0C8-8035-847A-D04445EC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698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0D3B064-7230-9642-D9F3-7532F027BE32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E145912-6CC5-75F8-5CA2-A567652DD0AF}"/>
              </a:ext>
            </a:extLst>
          </p:cNvPr>
          <p:cNvCxnSpPr/>
          <p:nvPr/>
        </p:nvCxnSpPr>
        <p:spPr>
          <a:xfrm>
            <a:off x="0" y="1124744"/>
            <a:ext cx="9144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AA4854-8DC4-016D-9A2E-8A38070696F1}"/>
              </a:ext>
            </a:extLst>
          </p:cNvPr>
          <p:cNvSpPr txBox="1"/>
          <p:nvPr/>
        </p:nvSpPr>
        <p:spPr>
          <a:xfrm>
            <a:off x="1115616" y="215443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dirty="0"/>
              <a:t>Մեթոդներ</a:t>
            </a:r>
            <a:endParaRPr lang="ru-AM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EAAD9-86B3-A077-490E-02C898CBD5BC}"/>
              </a:ext>
            </a:extLst>
          </p:cNvPr>
          <p:cNvSpPr txBox="1"/>
          <p:nvPr/>
        </p:nvSpPr>
        <p:spPr>
          <a:xfrm>
            <a:off x="4679504" y="0"/>
            <a:ext cx="4464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2800" dirty="0"/>
              <a:t>Թերությունները մեր խնդրի համար</a:t>
            </a:r>
            <a:endParaRPr lang="ru-AM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AE7883-22C4-D2B2-C673-4149A549ABFB}"/>
              </a:ext>
            </a:extLst>
          </p:cNvPr>
          <p:cNvSpPr txBox="1"/>
          <p:nvPr/>
        </p:nvSpPr>
        <p:spPr>
          <a:xfrm>
            <a:off x="246253" y="1983491"/>
            <a:ext cx="44279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/>
              <a:t>Հատկանիշների ընտրություն</a:t>
            </a:r>
          </a:p>
          <a:p>
            <a:endParaRPr lang="hy-AM" sz="2400" b="1" dirty="0"/>
          </a:p>
          <a:p>
            <a:r>
              <a:rPr lang="hy-AM" sz="2400" b="1" dirty="0"/>
              <a:t>Հատկանիշների արտածում</a:t>
            </a:r>
            <a:r>
              <a:rPr lang="hy-AM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PCA (</a:t>
            </a:r>
            <a:r>
              <a:rPr lang="hy-AM" sz="2400" dirty="0"/>
              <a:t>Գլխավոր բաղադրիչների վերլուծություն)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t-SNE</a:t>
            </a:r>
            <a:endParaRPr lang="hy-AM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UMAP</a:t>
            </a:r>
          </a:p>
          <a:p>
            <a:endParaRPr lang="ru-AM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FBFCA-97C5-A35D-6E26-51238FB4BBC6}"/>
              </a:ext>
            </a:extLst>
          </p:cNvPr>
          <p:cNvSpPr txBox="1"/>
          <p:nvPr/>
        </p:nvSpPr>
        <p:spPr>
          <a:xfrm>
            <a:off x="5148064" y="1700808"/>
            <a:ext cx="38884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AM" sz="2400" dirty="0"/>
              <a:t>❌ </a:t>
            </a:r>
            <a:r>
              <a:rPr lang="hy-AM" sz="2400" dirty="0"/>
              <a:t>Չեն պահպանում համակարգի ներքին </a:t>
            </a:r>
            <a:r>
              <a:rPr lang="hy-AM" sz="2400" b="1" dirty="0"/>
              <a:t>հաշվեկշիռը</a:t>
            </a:r>
          </a:p>
          <a:p>
            <a:endParaRPr lang="hy-AM" sz="2400" dirty="0"/>
          </a:p>
          <a:p>
            <a:r>
              <a:rPr lang="ru-AM" sz="2400" dirty="0"/>
              <a:t>❌ </a:t>
            </a:r>
            <a:r>
              <a:rPr lang="hy-AM" sz="2400" dirty="0"/>
              <a:t>Կորչում է </a:t>
            </a:r>
            <a:r>
              <a:rPr lang="hy-AM" sz="2400" b="1" dirty="0"/>
              <a:t>կառավարելիությունը</a:t>
            </a:r>
            <a:r>
              <a:rPr lang="hy-AM" sz="2400" dirty="0"/>
              <a:t> (</a:t>
            </a:r>
            <a:r>
              <a:rPr lang="en" sz="2400" dirty="0"/>
              <a:t>Controllability)</a:t>
            </a:r>
            <a:endParaRPr lang="hy-AM" sz="2400" dirty="0"/>
          </a:p>
          <a:p>
            <a:endParaRPr lang="en" sz="2400" dirty="0"/>
          </a:p>
          <a:p>
            <a:r>
              <a:rPr lang="ru-AM" sz="2400" dirty="0"/>
              <a:t>❌ </a:t>
            </a:r>
            <a:r>
              <a:rPr lang="hy-AM" sz="2400" dirty="0"/>
              <a:t>Մոդելը դառնում է </a:t>
            </a:r>
            <a:r>
              <a:rPr lang="hy-AM" sz="2400" b="1" dirty="0"/>
              <a:t>ոչ համարժեք</a:t>
            </a:r>
            <a:r>
              <a:rPr lang="hy-AM" sz="2400" dirty="0"/>
              <a:t> իրական համակարգին</a:t>
            </a:r>
          </a:p>
          <a:p>
            <a:br>
              <a:rPr lang="hy-AM" dirty="0"/>
            </a:br>
            <a:endParaRPr lang="ru-AM" dirty="0"/>
          </a:p>
        </p:txBody>
      </p:sp>
    </p:spTree>
    <p:extLst>
      <p:ext uri="{BB962C8B-B14F-4D97-AF65-F5344CB8AC3E}">
        <p14:creationId xmlns:p14="http://schemas.microsoft.com/office/powerpoint/2010/main" val="226925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02C40-3D7C-EE08-A1D7-D384C61F32D9}"/>
              </a:ext>
            </a:extLst>
          </p:cNvPr>
          <p:cNvSpPr txBox="1"/>
          <p:nvPr/>
        </p:nvSpPr>
        <p:spPr>
          <a:xfrm>
            <a:off x="1979712" y="332656"/>
            <a:ext cx="61206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/>
              <a:t>Խտացման Տեսության Էությունը</a:t>
            </a:r>
          </a:p>
          <a:p>
            <a:endParaRPr lang="ru-AM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6C00D-D15F-E18C-790F-66095D71E457}"/>
              </a:ext>
            </a:extLst>
          </p:cNvPr>
          <p:cNvSpPr txBox="1"/>
          <p:nvPr/>
        </p:nvSpPr>
        <p:spPr>
          <a:xfrm>
            <a:off x="5572120" y="1297337"/>
            <a:ext cx="3514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2400" b="1" dirty="0"/>
              <a:t>𝑃 = 𝑃</a:t>
            </a:r>
            <a:r>
              <a:rPr lang="hy-AM" sz="2400" b="1" baseline="-25000" dirty="0"/>
              <a:t>𝑊</a:t>
            </a:r>
          </a:p>
          <a:p>
            <a:r>
              <a:rPr lang="hy-AM" sz="2400" b="1" dirty="0"/>
              <a:t>Հիմնական գործընթաց՝</a:t>
            </a:r>
            <a:r>
              <a:rPr lang="hy-AM" sz="2400" dirty="0"/>
              <a:t> </a:t>
            </a:r>
          </a:p>
          <a:p>
            <a:r>
              <a:rPr lang="en" sz="2400" i="1" dirty="0"/>
              <a:t>P</a:t>
            </a:r>
            <a:r>
              <a:rPr lang="hy-AM" sz="2400" i="1" dirty="0"/>
              <a:t> </a:t>
            </a:r>
            <a:r>
              <a:rPr lang="en" sz="2400" dirty="0"/>
              <a:t>:</a:t>
            </a:r>
            <a:r>
              <a:rPr lang="hy-AM" sz="2400" dirty="0"/>
              <a:t> </a:t>
            </a:r>
            <a:r>
              <a:rPr lang="en" sz="2400" i="1" dirty="0"/>
              <a:t>X</a:t>
            </a:r>
            <a:r>
              <a:rPr lang="en" sz="2400" baseline="30000" dirty="0"/>
              <a:t>0</a:t>
            </a:r>
            <a:r>
              <a:rPr lang="en" sz="2400" dirty="0"/>
              <a:t>​</a:t>
            </a:r>
            <a:r>
              <a:rPr lang="hy-AM" sz="2400" dirty="0"/>
              <a:t> </a:t>
            </a:r>
            <a:r>
              <a:rPr lang="en" sz="2400" dirty="0"/>
              <a:t>→</a:t>
            </a:r>
            <a:r>
              <a:rPr lang="hy-AM" sz="2400" dirty="0"/>
              <a:t> </a:t>
            </a:r>
            <a:r>
              <a:rPr lang="en" sz="2400" i="1" dirty="0"/>
              <a:t>X</a:t>
            </a:r>
            <a:r>
              <a:rPr lang="en" sz="2400" baseline="30000" dirty="0"/>
              <a:t>1</a:t>
            </a:r>
            <a:r>
              <a:rPr lang="en" sz="2400" dirty="0"/>
              <a:t>​</a:t>
            </a:r>
          </a:p>
          <a:p>
            <a:r>
              <a:rPr lang="hy-AM" sz="2400" b="1" dirty="0"/>
              <a:t>«Հակագործընթաց»` </a:t>
            </a:r>
          </a:p>
          <a:p>
            <a:r>
              <a:rPr lang="en" sz="2400" i="1" dirty="0"/>
              <a:t>P</a:t>
            </a:r>
            <a:r>
              <a:rPr lang="en" sz="2400" i="1" baseline="-25000" dirty="0"/>
              <a:t>W</a:t>
            </a:r>
            <a:r>
              <a:rPr lang="en" sz="2400" dirty="0"/>
              <a:t>​</a:t>
            </a:r>
            <a:r>
              <a:rPr lang="hy-AM" sz="2400" dirty="0"/>
              <a:t> </a:t>
            </a:r>
            <a:r>
              <a:rPr lang="en" sz="2400" dirty="0"/>
              <a:t>:</a:t>
            </a:r>
            <a:r>
              <a:rPr lang="hy-AM" sz="2400" dirty="0"/>
              <a:t> </a:t>
            </a:r>
            <a:r>
              <a:rPr lang="en" sz="2400" i="1" dirty="0"/>
              <a:t>W</a:t>
            </a:r>
            <a:r>
              <a:rPr lang="en" sz="2400" baseline="30000" dirty="0"/>
              <a:t>1</a:t>
            </a:r>
            <a:r>
              <a:rPr lang="en" sz="2400" dirty="0"/>
              <a:t>​</a:t>
            </a:r>
            <a:r>
              <a:rPr lang="hy-AM" sz="2400" dirty="0"/>
              <a:t> </a:t>
            </a:r>
            <a:r>
              <a:rPr lang="en" sz="2400" dirty="0"/>
              <a:t>→</a:t>
            </a:r>
            <a:r>
              <a:rPr lang="hy-AM" sz="2400" dirty="0"/>
              <a:t> </a:t>
            </a:r>
            <a:r>
              <a:rPr lang="en" sz="2400" i="1" dirty="0"/>
              <a:t>W</a:t>
            </a:r>
            <a:r>
              <a:rPr lang="en" sz="2400" baseline="30000" dirty="0"/>
              <a:t>0​</a:t>
            </a:r>
          </a:p>
          <a:p>
            <a:pPr algn="ctr"/>
            <a:r>
              <a:rPr lang="hy-AM" sz="2400" b="1" dirty="0"/>
              <a:t> </a:t>
            </a:r>
            <a:endParaRPr lang="ru-AM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22A65-63B5-50D2-EB5C-BCFB77CBC722}"/>
              </a:ext>
            </a:extLst>
          </p:cNvPr>
          <p:cNvSpPr txBox="1"/>
          <p:nvPr/>
        </p:nvSpPr>
        <p:spPr>
          <a:xfrm>
            <a:off x="179512" y="4522808"/>
            <a:ext cx="8208912" cy="1694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y-AM" sz="2400" b="1" dirty="0"/>
              <a:t>Միավորում՝</a:t>
            </a:r>
            <a:r>
              <a:rPr lang="hy-AM" sz="2400" dirty="0"/>
              <a:t> Սկալյար արտադրյալի տեսքով</a:t>
            </a:r>
          </a:p>
          <a:p>
            <a:pPr lvl="1">
              <a:lnSpc>
                <a:spcPct val="150000"/>
              </a:lnSpc>
            </a:pPr>
            <a:r>
              <a:rPr lang="en" sz="2400" i="1" dirty="0"/>
              <a:t>y</a:t>
            </a:r>
            <a:r>
              <a:rPr lang="en" sz="2400" baseline="30000" dirty="0"/>
              <a:t>0</a:t>
            </a:r>
            <a:r>
              <a:rPr lang="en" sz="2400" dirty="0"/>
              <a:t>​=</a:t>
            </a:r>
            <a:r>
              <a:rPr lang="en" sz="2400" i="1" dirty="0"/>
              <a:t>w</a:t>
            </a:r>
            <a:r>
              <a:rPr lang="en" sz="2400" baseline="30000" dirty="0"/>
              <a:t>0</a:t>
            </a:r>
            <a:r>
              <a:rPr lang="en" sz="2400" dirty="0"/>
              <a:t>​⋅</a:t>
            </a:r>
            <a:r>
              <a:rPr lang="en" sz="2400" i="1" dirty="0"/>
              <a:t>x</a:t>
            </a:r>
            <a:r>
              <a:rPr lang="en" sz="2400" baseline="30000" dirty="0"/>
              <a:t>0</a:t>
            </a:r>
            <a:r>
              <a:rPr lang="en" sz="2400" dirty="0"/>
              <a:t>​</a:t>
            </a:r>
            <a:r>
              <a:rPr lang="hy-AM" sz="2400" dirty="0"/>
              <a:t>	</a:t>
            </a:r>
            <a:r>
              <a:rPr lang="en" sz="2400" dirty="0"/>
              <a:t>(</a:t>
            </a:r>
            <a:r>
              <a:rPr lang="hy-AM" sz="2400" dirty="0"/>
              <a:t>Մուտքի խտացված արժեք)</a:t>
            </a:r>
          </a:p>
          <a:p>
            <a:pPr lvl="1">
              <a:lnSpc>
                <a:spcPct val="150000"/>
              </a:lnSpc>
            </a:pPr>
            <a:r>
              <a:rPr lang="en" sz="2400" i="1" dirty="0"/>
              <a:t>y</a:t>
            </a:r>
            <a:r>
              <a:rPr lang="en" sz="2400" baseline="30000" dirty="0"/>
              <a:t>1​</a:t>
            </a:r>
            <a:r>
              <a:rPr lang="en" sz="2400" dirty="0"/>
              <a:t>=</a:t>
            </a:r>
            <a:r>
              <a:rPr lang="en" sz="2400" i="1" dirty="0"/>
              <a:t>w</a:t>
            </a:r>
            <a:r>
              <a:rPr lang="en" sz="2400" baseline="30000" dirty="0"/>
              <a:t>1</a:t>
            </a:r>
            <a:r>
              <a:rPr lang="en" sz="2400" dirty="0"/>
              <a:t>​⋅</a:t>
            </a:r>
            <a:r>
              <a:rPr lang="en" sz="2400" i="1" dirty="0"/>
              <a:t>x</a:t>
            </a:r>
            <a:r>
              <a:rPr lang="en" sz="2400" baseline="30000" dirty="0"/>
              <a:t>1</a:t>
            </a:r>
            <a:r>
              <a:rPr lang="en" sz="2400" dirty="0"/>
              <a:t>​</a:t>
            </a:r>
            <a:r>
              <a:rPr lang="hy-AM" sz="2400" dirty="0"/>
              <a:t>	</a:t>
            </a:r>
            <a:r>
              <a:rPr lang="en" sz="2400" dirty="0"/>
              <a:t>(</a:t>
            </a:r>
            <a:r>
              <a:rPr lang="hy-AM" sz="2400" dirty="0"/>
              <a:t>Ելքի խտացված արժեք)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393874-126D-4BED-4CF8-03A720B38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42" y="1305804"/>
            <a:ext cx="4716249" cy="244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7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F1C3E9-F0F2-045D-0EED-BE32267B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0770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71087-D71C-891E-B6F5-0F94F24D6A5E}"/>
              </a:ext>
            </a:extLst>
          </p:cNvPr>
          <p:cNvSpPr txBox="1"/>
          <p:nvPr/>
        </p:nvSpPr>
        <p:spPr>
          <a:xfrm>
            <a:off x="1907704" y="438144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Մուտքային տվյալներ</a:t>
            </a:r>
            <a:endParaRPr lang="ru-AM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152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F02162-0739-7D41-AAB2-DA1047CB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800"/>
            <a:ext cx="9165504" cy="47820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A35591-C2CD-C53C-A260-556B44DED3FE}"/>
              </a:ext>
            </a:extLst>
          </p:cNvPr>
          <p:cNvSpPr txBox="1"/>
          <p:nvPr/>
        </p:nvSpPr>
        <p:spPr>
          <a:xfrm>
            <a:off x="1630424" y="414335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3600" dirty="0"/>
              <a:t>Ալգորիթմի իրականացում</a:t>
            </a:r>
            <a:endParaRPr lang="ru-AM" sz="3600" dirty="0"/>
          </a:p>
        </p:txBody>
      </p:sp>
    </p:spTree>
    <p:extLst>
      <p:ext uri="{BB962C8B-B14F-4D97-AF65-F5344CB8AC3E}">
        <p14:creationId xmlns:p14="http://schemas.microsoft.com/office/powerpoint/2010/main" val="65030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E3FE-C783-ECBC-8A23-218BE96F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8D9F5B-B70F-89C3-5C2B-3F8C1C48C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34415"/>
            <a:ext cx="9144000" cy="59457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5B30D4-1073-C002-41BD-24E788254FE3}"/>
              </a:ext>
            </a:extLst>
          </p:cNvPr>
          <p:cNvSpPr txBox="1"/>
          <p:nvPr/>
        </p:nvSpPr>
        <p:spPr>
          <a:xfrm>
            <a:off x="1979712" y="116632"/>
            <a:ext cx="518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3600" dirty="0"/>
              <a:t>Օպտիմալ արդյունքներ</a:t>
            </a:r>
            <a:endParaRPr lang="ru-AM" sz="3600" dirty="0"/>
          </a:p>
        </p:txBody>
      </p:sp>
    </p:spTree>
    <p:extLst>
      <p:ext uri="{BB962C8B-B14F-4D97-AF65-F5344CB8AC3E}">
        <p14:creationId xmlns:p14="http://schemas.microsoft.com/office/powerpoint/2010/main" val="157187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9450-6D99-4A2A-A6B2-54B25885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1F8EA-4D68-9EDE-67FB-9A6628ADE40D}"/>
              </a:ext>
            </a:extLst>
          </p:cNvPr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ru-RU" sz="4400" kern="1200">
                <a:latin typeface="+mj-lt"/>
                <a:ea typeface="+mj-ea"/>
                <a:cs typeface="+mj-cs"/>
              </a:rPr>
              <a:t>ԱՐԴՅՈՒՆՔՆԵՐԻ ՀԱՄԵՄԱՏՈՒՄ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DC5A79-D03E-1A7E-F0EC-802887E7A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5" y="2348880"/>
            <a:ext cx="4038600" cy="3039046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BC7BA0-8606-A9DA-56C9-7F0BB5FB8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5665" y="1417638"/>
            <a:ext cx="5186855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AM" sz="1600" dirty="0"/>
              <a:t>Ֆերերո ընկերության պաշտոնական տվյալներով (եվրոպական ստանդարտով) 100 գրամ Նուտելլայի իրական բաղադրությունը հետևյալն է՝</a:t>
            </a:r>
          </a:p>
          <a:p>
            <a:pPr lvl="0"/>
            <a:r>
              <a:rPr lang="ru-AM" sz="1600" dirty="0"/>
              <a:t>Շաքար — 54.0 գ</a:t>
            </a:r>
          </a:p>
          <a:p>
            <a:pPr lvl="0"/>
            <a:r>
              <a:rPr lang="ru-AM" sz="1600" dirty="0"/>
              <a:t>Արմավենու յուղ (Բուսայուղ) — 18.5 գ</a:t>
            </a:r>
          </a:p>
          <a:p>
            <a:pPr lvl="0"/>
            <a:r>
              <a:rPr lang="ru-AM" sz="1600" dirty="0"/>
              <a:t>Ընկույզ — 13.0 գ</a:t>
            </a:r>
          </a:p>
          <a:p>
            <a:pPr lvl="0"/>
            <a:r>
              <a:rPr lang="ru-AM" sz="1600" dirty="0"/>
              <a:t>Կակաո — 7.4 գ</a:t>
            </a:r>
          </a:p>
          <a:p>
            <a:pPr lvl="0"/>
            <a:r>
              <a:rPr lang="ru-AM" sz="1600" dirty="0"/>
              <a:t>Շիկացրած կաթի փոշի — 6.6 գ</a:t>
            </a:r>
          </a:p>
          <a:p>
            <a:pPr lvl="0"/>
            <a:r>
              <a:rPr lang="ru-AM" sz="1600" dirty="0"/>
              <a:t>Լեցիտին (սոյա) և վանիլին (Հավելումներ) — ~1.6 գ</a:t>
            </a:r>
          </a:p>
          <a:p>
            <a:pPr marL="0" indent="0">
              <a:buNone/>
            </a:pPr>
            <a:r>
              <a:rPr lang="hy-AM" sz="1900" dirty="0"/>
              <a:t>Մեր</a:t>
            </a:r>
            <a:r>
              <a:rPr lang="ru-AM" sz="1900" dirty="0"/>
              <a:t> </a:t>
            </a:r>
            <a:r>
              <a:rPr lang="hy-AM" sz="1900" dirty="0"/>
              <a:t>ստացած արդյունքները</a:t>
            </a:r>
            <a:r>
              <a:rPr lang="ru-AM" sz="1900" dirty="0"/>
              <a:t>՝</a:t>
            </a:r>
          </a:p>
          <a:p>
            <a:pPr lvl="0"/>
            <a:r>
              <a:rPr lang="ru-AM" sz="1700" dirty="0"/>
              <a:t>Շաքար — 55.1 գ</a:t>
            </a:r>
          </a:p>
          <a:p>
            <a:pPr lvl="0"/>
            <a:r>
              <a:rPr lang="ru-AM" sz="1700" dirty="0"/>
              <a:t>Արմավենու յուղ (Բուսայուղ) — 16,.7 գ</a:t>
            </a:r>
          </a:p>
          <a:p>
            <a:pPr lvl="0"/>
            <a:r>
              <a:rPr lang="ru-AM" sz="1700" dirty="0"/>
              <a:t>Ընկույզ — 13.3 գ</a:t>
            </a:r>
          </a:p>
          <a:p>
            <a:pPr lvl="0"/>
            <a:r>
              <a:rPr lang="ru-AM" sz="1700" dirty="0"/>
              <a:t>Կակաո — 7.2 գ</a:t>
            </a:r>
          </a:p>
          <a:p>
            <a:pPr lvl="0"/>
            <a:r>
              <a:rPr lang="ru-AM" sz="1700" dirty="0"/>
              <a:t>Շիկացրած կաթի փոշի — 6.0 գ</a:t>
            </a:r>
          </a:p>
          <a:p>
            <a:pPr lvl="0"/>
            <a:r>
              <a:rPr lang="ru-AM" sz="1700" dirty="0"/>
              <a:t>Լեցիտին (սոյա) և վանիլին (Հավելումներ) — ~</a:t>
            </a:r>
            <a:r>
              <a:rPr lang="en-US" sz="1700" dirty="0"/>
              <a:t>1.6</a:t>
            </a:r>
            <a:r>
              <a:rPr lang="ru-AM" sz="1700" dirty="0"/>
              <a:t> գ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04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1944-20B0-2E43-E275-11DB3C11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AEC1A3-659D-CF60-FA80-598F9366A143}"/>
              </a:ext>
            </a:extLst>
          </p:cNvPr>
          <p:cNvSpPr txBox="1"/>
          <p:nvPr/>
        </p:nvSpPr>
        <p:spPr>
          <a:xfrm>
            <a:off x="3676474" y="251063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y-AM" altLang="en-US" sz="4000" b="1" dirty="0">
                <a:effectLst>
                  <a:outerShdw blurRad="314867" sx="102000" sy="102000" algn="ctr" rotWithShape="0">
                    <a:prstClr val="black">
                      <a:alpha val="82000"/>
                    </a:prstClr>
                  </a:outerShdw>
                </a:effectLst>
                <a:latin typeface="Sylfaen" pitchFamily="18" charset="0"/>
                <a:ea typeface="NEXON Lv2 Gothic Bold" pitchFamily="2" charset="-127"/>
              </a:rPr>
              <a:t>ԵԶՐԱԿԱՑՈՒԹՅՈՒՆ</a:t>
            </a:r>
            <a:endParaRPr kumimoji="1" lang="x-none" altLang="en-US" sz="4000" dirty="0">
              <a:effectLst>
                <a:outerShdw blurRad="314867" sx="102000" sy="102000" algn="ctr" rotWithShape="0">
                  <a:prstClr val="black">
                    <a:alpha val="82000"/>
                  </a:prstClr>
                </a:outerShdw>
              </a:effectLst>
              <a:latin typeface="Sylfaen" pitchFamily="18" charset="0"/>
              <a:ea typeface="NEXON Lv2 Gothic 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D9A78-E21B-5D13-4B8E-98C0F8B71650}"/>
              </a:ext>
            </a:extLst>
          </p:cNvPr>
          <p:cNvSpPr txBox="1"/>
          <p:nvPr/>
        </p:nvSpPr>
        <p:spPr>
          <a:xfrm>
            <a:off x="3904692" y="1277053"/>
            <a:ext cx="48721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000" dirty="0">
                <a:cs typeface="Al Nile" pitchFamily="2" charset="-78"/>
              </a:rPr>
              <a:t>Ամփոփելով՝ </a:t>
            </a:r>
            <a:endParaRPr lang="en-US" sz="2000" dirty="0">
              <a:cs typeface="Al Nile" pitchFamily="2" charset="-78"/>
            </a:endParaRPr>
          </a:p>
          <a:p>
            <a:endParaRPr lang="hy-AM" sz="2000" dirty="0">
              <a:cs typeface="Al Nile" pitchFamily="2" charset="-78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hy-AM" sz="2000" dirty="0"/>
              <a:t>խտացման մեթոդը ագրեգացման արդյունավետ գործիք է, որն օգնում է լուծել բարձր չափայնության օպտիմալացման խնդիրները՝ խնայելով ժամանակ և ռեսուրսներ։</a:t>
            </a:r>
          </a:p>
          <a:p>
            <a:endParaRPr lang="hy-AM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hy-AM" sz="2000" dirty="0"/>
              <a:t>Մշակված ծրագրային միջոցն առանձնանում է օգտագործման հարմարավետությամբ (“user-friendly”) և կարող է աշխատել ինչպես Windows, այնպես էլ Linux միջավայրում՝ առանց հավելյալ գրադարանների, ինչն ապահովում է դրա լայն կիրառումն անկախ ծրագրային միջավայրից։</a:t>
            </a:r>
            <a:endParaRPr lang="ru-AM" sz="2000" dirty="0">
              <a:latin typeface="Impact" panose="020B080603090205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F99BB1E-9899-9CDC-480E-B5AF5C2B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52836"/>
            <a:ext cx="295232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9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668638A8-0CEA-E51A-2D65-FEB77F3389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78" b="7878"/>
          <a:stretch>
            <a:fillRect/>
          </a:stretch>
        </p:blipFill>
        <p:spPr/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52F0F3D-48E0-C4F9-DF21-8C7E58C0CE25}"/>
              </a:ext>
            </a:extLst>
          </p:cNvPr>
          <p:cNvSpPr/>
          <p:nvPr/>
        </p:nvSpPr>
        <p:spPr>
          <a:xfrm>
            <a:off x="0" y="4935794"/>
            <a:ext cx="9144000" cy="192220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AB827C6C-3B80-B3F1-3D2F-B183BC853CC8}"/>
              </a:ext>
            </a:extLst>
          </p:cNvPr>
          <p:cNvCxnSpPr/>
          <p:nvPr/>
        </p:nvCxnSpPr>
        <p:spPr>
          <a:xfrm>
            <a:off x="0" y="6021288"/>
            <a:ext cx="914399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D534BF-1196-FBAE-FD29-4DAB169C75A8}"/>
              </a:ext>
            </a:extLst>
          </p:cNvPr>
          <p:cNvSpPr txBox="1"/>
          <p:nvPr/>
        </p:nvSpPr>
        <p:spPr>
          <a:xfrm>
            <a:off x="4214810" y="285728"/>
            <a:ext cx="464347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hy-AM" altLang="en-US" sz="4000" dirty="0">
                <a:solidFill>
                  <a:schemeClr val="bg1">
                    <a:lumMod val="95000"/>
                  </a:schemeClr>
                </a:solidFill>
                <a:latin typeface="Sylfaen" pitchFamily="18" charset="0"/>
                <a:ea typeface="NEXON Lv2 Gothic Bold" pitchFamily="2" charset="-127"/>
              </a:rPr>
              <a:t>Շնորհակալություն</a:t>
            </a:r>
            <a:endParaRPr kumimoji="1" lang="x-none" altLang="en-US" sz="4000" dirty="0">
              <a:solidFill>
                <a:schemeClr val="bg1">
                  <a:lumMod val="95000"/>
                </a:schemeClr>
              </a:solidFill>
              <a:latin typeface="Sylfaen" pitchFamily="18" charset="0"/>
              <a:ea typeface="NEXON Lv2 Gothic Bold" pitchFamily="2" charset="-127"/>
            </a:endParaRPr>
          </a:p>
        </p:txBody>
      </p:sp>
      <p:grpSp>
        <p:nvGrpSpPr>
          <p:cNvPr id="2" name="그룹 12">
            <a:extLst>
              <a:ext uri="{FF2B5EF4-FFF2-40B4-BE49-F238E27FC236}">
                <a16:creationId xmlns:a16="http://schemas.microsoft.com/office/drawing/2014/main" id="{32F169B3-98A1-1F7E-C02A-726215BFE1E8}"/>
              </a:ext>
            </a:extLst>
          </p:cNvPr>
          <p:cNvGrpSpPr/>
          <p:nvPr/>
        </p:nvGrpSpPr>
        <p:grpSpPr>
          <a:xfrm>
            <a:off x="4143373" y="428602"/>
            <a:ext cx="4797883" cy="414424"/>
            <a:chOff x="1236436" y="2620310"/>
            <a:chExt cx="11014401" cy="1223127"/>
          </a:xfrm>
          <a:solidFill>
            <a:schemeClr val="accent4"/>
          </a:solidFill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62221EEE-7859-B7FB-C9EA-C52D716A45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0117" y="3136629"/>
              <a:ext cx="1223123" cy="190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C9E01054-FFFA-E00D-4F9E-EC4C489BDD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544032" y="3136632"/>
              <a:ext cx="1223124" cy="1904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52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21380</TotalTime>
  <Words>306</Words>
  <Application>Microsoft Macintosh PowerPoint</Application>
  <PresentationFormat>Экран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Al Nile</vt:lpstr>
      <vt:lpstr>Arial</vt:lpstr>
      <vt:lpstr>Calibri</vt:lpstr>
      <vt:lpstr>Impact</vt:lpstr>
      <vt:lpstr>Sylfaen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Lilit Qosyan</cp:lastModifiedBy>
  <cp:revision>34</cp:revision>
  <dcterms:created xsi:type="dcterms:W3CDTF">2024-04-19T09:52:28Z</dcterms:created>
  <dcterms:modified xsi:type="dcterms:W3CDTF">2026-05-19T05:33:55Z</dcterms:modified>
</cp:coreProperties>
</file>