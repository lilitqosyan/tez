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9" r:id="rId9"/>
    <p:sldId id="270" r:id="rId10"/>
    <p:sldId id="271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4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48" autoAdjust="0"/>
    <p:restoredTop sz="94690"/>
  </p:normalViewPr>
  <p:slideViewPr>
    <p:cSldViewPr>
      <p:cViewPr varScale="1">
        <p:scale>
          <a:sx n="71" d="100"/>
          <a:sy n="71" d="100"/>
        </p:scale>
        <p:origin x="184" y="10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63A6D0F9-1994-6F98-2BBC-161F1EA90B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1752600"/>
          </a:xfrm>
        </p:spPr>
        <p:txBody>
          <a:bodyPr/>
          <a:lstStyle/>
          <a:p>
            <a:endParaRPr kumimoji="1" lang="x-none" altLang="en-US"/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70CB0482-3A57-3D12-AD5F-4CAE9B106D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309" y="3200400"/>
            <a:ext cx="8211383" cy="3057525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FontTx/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5A7A6B-4953-60DE-D491-0E7D4F0BA2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309" y="2216665"/>
            <a:ext cx="8211383" cy="85991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48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336343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708C7576-2057-11D0-FD41-FB207F75F3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9144000" cy="6858000"/>
          </a:xfrm>
        </p:spPr>
        <p:txBody>
          <a:bodyPr/>
          <a:lstStyle/>
          <a:p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87397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44B08C53-64C3-25BB-01E5-4F302EC1D6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71950" y="603250"/>
            <a:ext cx="3219450" cy="5651500"/>
          </a:xfrm>
        </p:spPr>
        <p:txBody>
          <a:bodyPr/>
          <a:lstStyle/>
          <a:p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630113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79330D8A-E28F-0115-E780-18CB770077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6475" y="-1"/>
            <a:ext cx="3152775" cy="6115665"/>
          </a:xfrm>
        </p:spPr>
        <p:txBody>
          <a:bodyPr/>
          <a:lstStyle/>
          <a:p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93080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개체 틀 7">
            <a:extLst>
              <a:ext uri="{FF2B5EF4-FFF2-40B4-BE49-F238E27FC236}">
                <a16:creationId xmlns:a16="http://schemas.microsoft.com/office/drawing/2014/main" id="{7CB64019-EFD1-5FD5-CEA9-5AEDD8E02EE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6913" b="36913"/>
          <a:stretch>
            <a:fillRect/>
          </a:stretch>
        </p:blipFill>
        <p:spPr/>
      </p:pic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A850B12-8B47-3E72-FF20-0A219A7118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307" y="3375050"/>
            <a:ext cx="8211383" cy="1209281"/>
          </a:xfrm>
        </p:spPr>
        <p:txBody>
          <a:bodyPr>
            <a:noAutofit/>
          </a:bodyPr>
          <a:lstStyle/>
          <a:p>
            <a:pPr algn="ctr"/>
            <a:r>
              <a:rPr lang="hy-AM" sz="2800" b="1" dirty="0">
                <a:solidFill>
                  <a:schemeClr val="tx2"/>
                </a:solidFill>
              </a:rPr>
              <a:t>Օպտիմալացման գործընթացների չափայնության նվազեցման միջոցի մշակում</a:t>
            </a:r>
            <a:endParaRPr lang="ru-RU" sz="2800" dirty="0">
              <a:solidFill>
                <a:schemeClr val="tx2"/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188213C-A761-425D-5F00-DDD0528749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053853"/>
            <a:ext cx="9143999" cy="1107862"/>
          </a:xfrm>
        </p:spPr>
        <p:txBody>
          <a:bodyPr/>
          <a:lstStyle/>
          <a:p>
            <a:pPr algn="ctr"/>
            <a:r>
              <a:rPr lang="hy-AM" sz="3200" dirty="0">
                <a:solidFill>
                  <a:schemeClr val="accent1">
                    <a:lumMod val="75000"/>
                  </a:schemeClr>
                </a:solidFill>
                <a:latin typeface="Sylfaen" panose="010A0502050306030303" pitchFamily="18" charset="0"/>
              </a:rPr>
              <a:t>Հայաստանի Ազգային Պոլիտեխնիկական Համալսարան</a:t>
            </a:r>
            <a:endParaRPr lang="en-US" sz="3200" dirty="0">
              <a:solidFill>
                <a:schemeClr val="accent1">
                  <a:lumMod val="75000"/>
                </a:schemeClr>
              </a:solidFill>
              <a:latin typeface="Sylfaen" panose="010A0502050306030303" pitchFamily="18" charset="0"/>
            </a:endParaRP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9B4FCBFF-C3A9-EFAA-DD04-5EF062854338}"/>
              </a:ext>
            </a:extLst>
          </p:cNvPr>
          <p:cNvCxnSpPr/>
          <p:nvPr/>
        </p:nvCxnSpPr>
        <p:spPr>
          <a:xfrm>
            <a:off x="1" y="1887794"/>
            <a:ext cx="914399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8596" y="4929198"/>
            <a:ext cx="6929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y-AM" dirty="0">
                <a:solidFill>
                  <a:schemeClr val="accent1">
                    <a:lumMod val="75000"/>
                  </a:schemeClr>
                </a:solidFill>
                <a:latin typeface="Sylfaen" panose="010A0502050306030303" pitchFamily="18" charset="0"/>
              </a:rPr>
              <a:t>Ֆակուլտետ՝ 	Կիրառական Մաթեմատիկա և Ֆիզիկա</a:t>
            </a:r>
          </a:p>
          <a:p>
            <a:pPr algn="just"/>
            <a:r>
              <a:rPr lang="hy-AM" dirty="0">
                <a:solidFill>
                  <a:schemeClr val="accent1">
                    <a:lumMod val="75000"/>
                  </a:schemeClr>
                </a:solidFill>
                <a:latin typeface="Sylfaen" panose="010A0502050306030303" pitchFamily="18" charset="0"/>
              </a:rPr>
              <a:t>Խումբ՝ 		ՄՄԹ-4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Sylfaen" panose="010A0502050306030303" pitchFamily="18" charset="0"/>
              </a:rPr>
              <a:t>40</a:t>
            </a:r>
            <a:endParaRPr lang="hy-AM" dirty="0">
              <a:solidFill>
                <a:schemeClr val="accent1">
                  <a:lumMod val="75000"/>
                </a:schemeClr>
              </a:solidFill>
              <a:latin typeface="Sylfaen" panose="010A0502050306030303" pitchFamily="18" charset="0"/>
            </a:endParaRPr>
          </a:p>
          <a:p>
            <a:pPr algn="just"/>
            <a:r>
              <a:rPr lang="hy-AM" dirty="0">
                <a:solidFill>
                  <a:schemeClr val="accent1">
                    <a:lumMod val="75000"/>
                  </a:schemeClr>
                </a:solidFill>
                <a:latin typeface="Sylfaen" panose="010A0502050306030303" pitchFamily="18" charset="0"/>
              </a:rPr>
              <a:t>Ուսանողուհի՝ 	Քոսյան Լիլիթ</a:t>
            </a:r>
          </a:p>
          <a:p>
            <a:pPr algn="just"/>
            <a:r>
              <a:rPr lang="hy-AM" dirty="0">
                <a:solidFill>
                  <a:schemeClr val="accent1">
                    <a:lumMod val="75000"/>
                  </a:schemeClr>
                </a:solidFill>
                <a:latin typeface="Sylfaen" panose="010A0502050306030303" pitchFamily="18" charset="0"/>
              </a:rPr>
              <a:t>Ղեկավար՝ 	Մարկոսյան Գայանե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Rectangle 309">
            <a:extLst>
              <a:ext uri="{FF2B5EF4-FFF2-40B4-BE49-F238E27FC236}">
                <a16:creationId xmlns:a16="http://schemas.microsoft.com/office/drawing/2014/main" id="{F8D56E7E-A4A0-5CB9-8987-44010F56631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57158" y="4714884"/>
            <a:ext cx="8320532" cy="8278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Rectangle 310">
            <a:extLst>
              <a:ext uri="{FF2B5EF4-FFF2-40B4-BE49-F238E27FC236}">
                <a16:creationId xmlns:a16="http://schemas.microsoft.com/office/drawing/2014/main" id="{4BD42CC6-13B9-6595-F3AB-DA848466561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57157" y="3286123"/>
            <a:ext cx="8320532" cy="154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105869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4AB835-FD89-8F9E-DE96-F836B99A0BE5}"/>
              </a:ext>
            </a:extLst>
          </p:cNvPr>
          <p:cNvSpPr/>
          <p:nvPr/>
        </p:nvSpPr>
        <p:spPr>
          <a:xfrm>
            <a:off x="0" y="3979334"/>
            <a:ext cx="9144000" cy="287866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pic>
        <p:nvPicPr>
          <p:cNvPr id="4" name="그림 개체 틀 3">
            <a:extLst>
              <a:ext uri="{FF2B5EF4-FFF2-40B4-BE49-F238E27FC236}">
                <a16:creationId xmlns:a16="http://schemas.microsoft.com/office/drawing/2014/main" id="{FD82BC86-0A34-2488-E62F-214479F547F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8510" b="8510"/>
          <a:stretch>
            <a:fillRect/>
          </a:stretch>
        </p:blipFill>
        <p:spPr/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4903C89-5D84-1DF5-B196-A4B944929EB1}"/>
              </a:ext>
            </a:extLst>
          </p:cNvPr>
          <p:cNvSpPr/>
          <p:nvPr/>
        </p:nvSpPr>
        <p:spPr>
          <a:xfrm>
            <a:off x="0" y="4336026"/>
            <a:ext cx="9144000" cy="2521974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5" name="자유형 14">
            <a:extLst>
              <a:ext uri="{FF2B5EF4-FFF2-40B4-BE49-F238E27FC236}">
                <a16:creationId xmlns:a16="http://schemas.microsoft.com/office/drawing/2014/main" id="{7A3BF33E-98E2-0366-5D13-78F1EA38BFE8}"/>
              </a:ext>
            </a:extLst>
          </p:cNvPr>
          <p:cNvSpPr/>
          <p:nvPr/>
        </p:nvSpPr>
        <p:spPr>
          <a:xfrm rot="5400000">
            <a:off x="6782422" y="4347240"/>
            <a:ext cx="632216" cy="2085984"/>
          </a:xfrm>
          <a:custGeom>
            <a:avLst/>
            <a:gdLst>
              <a:gd name="connsiteX0" fmla="*/ 0 w 632216"/>
              <a:gd name="connsiteY0" fmla="*/ 2465204 h 2781312"/>
              <a:gd name="connsiteX1" fmla="*/ 147 w 632216"/>
              <a:gd name="connsiteY1" fmla="*/ 2463741 h 2781312"/>
              <a:gd name="connsiteX2" fmla="*/ 0 w 632216"/>
              <a:gd name="connsiteY2" fmla="*/ 2463741 h 2781312"/>
              <a:gd name="connsiteX3" fmla="*/ 0 w 632216"/>
              <a:gd name="connsiteY3" fmla="*/ 1538100 h 2781312"/>
              <a:gd name="connsiteX4" fmla="*/ 0 w 632216"/>
              <a:gd name="connsiteY4" fmla="*/ 1536637 h 2781312"/>
              <a:gd name="connsiteX5" fmla="*/ 0 w 632216"/>
              <a:gd name="connsiteY5" fmla="*/ 1243213 h 2781312"/>
              <a:gd name="connsiteX6" fmla="*/ 0 w 632216"/>
              <a:gd name="connsiteY6" fmla="*/ 316108 h 2781312"/>
              <a:gd name="connsiteX7" fmla="*/ 316108 w 632216"/>
              <a:gd name="connsiteY7" fmla="*/ 0 h 2781312"/>
              <a:gd name="connsiteX8" fmla="*/ 632216 w 632216"/>
              <a:gd name="connsiteY8" fmla="*/ 316108 h 2781312"/>
              <a:gd name="connsiteX9" fmla="*/ 632215 w 632216"/>
              <a:gd name="connsiteY9" fmla="*/ 316116 h 2781312"/>
              <a:gd name="connsiteX10" fmla="*/ 632215 w 632216"/>
              <a:gd name="connsiteY10" fmla="*/ 1243205 h 2781312"/>
              <a:gd name="connsiteX11" fmla="*/ 632216 w 632216"/>
              <a:gd name="connsiteY11" fmla="*/ 1243213 h 2781312"/>
              <a:gd name="connsiteX12" fmla="*/ 632215 w 632216"/>
              <a:gd name="connsiteY12" fmla="*/ 1243220 h 2781312"/>
              <a:gd name="connsiteX13" fmla="*/ 632215 w 632216"/>
              <a:gd name="connsiteY13" fmla="*/ 1536637 h 2781312"/>
              <a:gd name="connsiteX14" fmla="*/ 632215 w 632216"/>
              <a:gd name="connsiteY14" fmla="*/ 1538093 h 2781312"/>
              <a:gd name="connsiteX15" fmla="*/ 632216 w 632216"/>
              <a:gd name="connsiteY15" fmla="*/ 1538100 h 2781312"/>
              <a:gd name="connsiteX16" fmla="*/ 632215 w 632216"/>
              <a:gd name="connsiteY16" fmla="*/ 1538108 h 2781312"/>
              <a:gd name="connsiteX17" fmla="*/ 632215 w 632216"/>
              <a:gd name="connsiteY17" fmla="*/ 2463741 h 2781312"/>
              <a:gd name="connsiteX18" fmla="*/ 632069 w 632216"/>
              <a:gd name="connsiteY18" fmla="*/ 2463741 h 2781312"/>
              <a:gd name="connsiteX19" fmla="*/ 632216 w 632216"/>
              <a:gd name="connsiteY19" fmla="*/ 2465204 h 2781312"/>
              <a:gd name="connsiteX20" fmla="*/ 316108 w 632216"/>
              <a:gd name="connsiteY20" fmla="*/ 2781312 h 2781312"/>
              <a:gd name="connsiteX21" fmla="*/ 0 w 632216"/>
              <a:gd name="connsiteY21" fmla="*/ 2465204 h 2781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32216" h="2781312">
                <a:moveTo>
                  <a:pt x="0" y="2465204"/>
                </a:moveTo>
                <a:lnTo>
                  <a:pt x="147" y="2463741"/>
                </a:lnTo>
                <a:lnTo>
                  <a:pt x="0" y="2463741"/>
                </a:lnTo>
                <a:lnTo>
                  <a:pt x="0" y="1538100"/>
                </a:lnTo>
                <a:lnTo>
                  <a:pt x="0" y="1536637"/>
                </a:lnTo>
                <a:lnTo>
                  <a:pt x="0" y="1243213"/>
                </a:lnTo>
                <a:lnTo>
                  <a:pt x="0" y="316108"/>
                </a:lnTo>
                <a:cubicBezTo>
                  <a:pt x="0" y="141526"/>
                  <a:pt x="141526" y="0"/>
                  <a:pt x="316108" y="0"/>
                </a:cubicBezTo>
                <a:cubicBezTo>
                  <a:pt x="490690" y="0"/>
                  <a:pt x="632216" y="141526"/>
                  <a:pt x="632216" y="316108"/>
                </a:cubicBezTo>
                <a:lnTo>
                  <a:pt x="632215" y="316116"/>
                </a:lnTo>
                <a:lnTo>
                  <a:pt x="632215" y="1243205"/>
                </a:lnTo>
                <a:lnTo>
                  <a:pt x="632216" y="1243213"/>
                </a:lnTo>
                <a:lnTo>
                  <a:pt x="632215" y="1243220"/>
                </a:lnTo>
                <a:lnTo>
                  <a:pt x="632215" y="1536637"/>
                </a:lnTo>
                <a:lnTo>
                  <a:pt x="632215" y="1538093"/>
                </a:lnTo>
                <a:lnTo>
                  <a:pt x="632216" y="1538100"/>
                </a:lnTo>
                <a:lnTo>
                  <a:pt x="632215" y="1538108"/>
                </a:lnTo>
                <a:lnTo>
                  <a:pt x="632215" y="2463741"/>
                </a:lnTo>
                <a:lnTo>
                  <a:pt x="632069" y="2463741"/>
                </a:lnTo>
                <a:lnTo>
                  <a:pt x="632216" y="2465204"/>
                </a:lnTo>
                <a:cubicBezTo>
                  <a:pt x="632216" y="2639786"/>
                  <a:pt x="490690" y="2781312"/>
                  <a:pt x="316108" y="2781312"/>
                </a:cubicBezTo>
                <a:cubicBezTo>
                  <a:pt x="141526" y="2781312"/>
                  <a:pt x="0" y="2639786"/>
                  <a:pt x="0" y="2465204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46660EB4-64EB-1F8F-D4E2-75393B297EAE}"/>
              </a:ext>
            </a:extLst>
          </p:cNvPr>
          <p:cNvCxnSpPr/>
          <p:nvPr/>
        </p:nvCxnSpPr>
        <p:spPr>
          <a:xfrm>
            <a:off x="1" y="4572000"/>
            <a:ext cx="914399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40">
            <a:extLst>
              <a:ext uri="{FF2B5EF4-FFF2-40B4-BE49-F238E27FC236}">
                <a16:creationId xmlns:a16="http://schemas.microsoft.com/office/drawing/2014/main" id="{0FE3DA74-5276-FBFE-0125-15C9B0BCA545}"/>
              </a:ext>
            </a:extLst>
          </p:cNvPr>
          <p:cNvGrpSpPr/>
          <p:nvPr/>
        </p:nvGrpSpPr>
        <p:grpSpPr>
          <a:xfrm>
            <a:off x="7360541" y="3638550"/>
            <a:ext cx="1392059" cy="1857196"/>
            <a:chOff x="10454594" y="3233348"/>
            <a:chExt cx="1010861" cy="1011469"/>
          </a:xfrm>
        </p:grpSpPr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2E86F8DC-7597-5951-5CCF-BE04F1449B1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233653"/>
              <a:ext cx="505735" cy="505126"/>
            </a:xfrm>
            <a:custGeom>
              <a:avLst/>
              <a:gdLst>
                <a:gd name="T0" fmla="*/ 0 w 2680"/>
                <a:gd name="T1" fmla="*/ 2089 h 2680"/>
                <a:gd name="T2" fmla="*/ 0 w 2680"/>
                <a:gd name="T3" fmla="*/ 2680 h 2680"/>
                <a:gd name="T4" fmla="*/ 2680 w 2680"/>
                <a:gd name="T5" fmla="*/ 0 h 2680"/>
                <a:gd name="T6" fmla="*/ 2089 w 2680"/>
                <a:gd name="T7" fmla="*/ 0 h 2680"/>
                <a:gd name="T8" fmla="*/ 0 w 2680"/>
                <a:gd name="T9" fmla="*/ 2089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0">
                  <a:moveTo>
                    <a:pt x="0" y="2089"/>
                  </a:moveTo>
                  <a:lnTo>
                    <a:pt x="0" y="2680"/>
                  </a:lnTo>
                  <a:cubicBezTo>
                    <a:pt x="1480" y="2680"/>
                    <a:pt x="2680" y="1480"/>
                    <a:pt x="2680" y="0"/>
                  </a:cubicBezTo>
                  <a:lnTo>
                    <a:pt x="2089" y="0"/>
                  </a:lnTo>
                  <a:cubicBezTo>
                    <a:pt x="2089" y="1154"/>
                    <a:pt x="1154" y="2089"/>
                    <a:pt x="0" y="2089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1BDDCDED-949F-3165-CAED-568562191F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739387"/>
              <a:ext cx="505735" cy="505126"/>
            </a:xfrm>
            <a:custGeom>
              <a:avLst/>
              <a:gdLst>
                <a:gd name="T0" fmla="*/ 2681 w 2681"/>
                <a:gd name="T1" fmla="*/ 2680 h 2680"/>
                <a:gd name="T2" fmla="*/ 2681 w 2681"/>
                <a:gd name="T3" fmla="*/ 2089 h 2680"/>
                <a:gd name="T4" fmla="*/ 591 w 2681"/>
                <a:gd name="T5" fmla="*/ 0 h 2680"/>
                <a:gd name="T6" fmla="*/ 0 w 2681"/>
                <a:gd name="T7" fmla="*/ 0 h 2680"/>
                <a:gd name="T8" fmla="*/ 2681 w 2681"/>
                <a:gd name="T9" fmla="*/ 268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1" h="2680">
                  <a:moveTo>
                    <a:pt x="2681" y="2680"/>
                  </a:moveTo>
                  <a:lnTo>
                    <a:pt x="2681" y="2089"/>
                  </a:lnTo>
                  <a:cubicBezTo>
                    <a:pt x="1527" y="2089"/>
                    <a:pt x="591" y="1154"/>
                    <a:pt x="591" y="0"/>
                  </a:cubicBezTo>
                  <a:lnTo>
                    <a:pt x="0" y="0"/>
                  </a:lnTo>
                  <a:cubicBezTo>
                    <a:pt x="0" y="1480"/>
                    <a:pt x="1200" y="2680"/>
                    <a:pt x="2681" y="268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Freeform 20">
              <a:extLst>
                <a:ext uri="{FF2B5EF4-FFF2-40B4-BE49-F238E27FC236}">
                  <a16:creationId xmlns:a16="http://schemas.microsoft.com/office/drawing/2014/main" id="{E4954A68-F806-846A-E403-946A51A4A32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54594" y="3233348"/>
              <a:ext cx="505735" cy="505735"/>
            </a:xfrm>
            <a:custGeom>
              <a:avLst/>
              <a:gdLst>
                <a:gd name="T0" fmla="*/ 0 w 2680"/>
                <a:gd name="T1" fmla="*/ 0 h 2681"/>
                <a:gd name="T2" fmla="*/ 0 w 2680"/>
                <a:gd name="T3" fmla="*/ 592 h 2681"/>
                <a:gd name="T4" fmla="*/ 2089 w 2680"/>
                <a:gd name="T5" fmla="*/ 2681 h 2681"/>
                <a:gd name="T6" fmla="*/ 2680 w 2680"/>
                <a:gd name="T7" fmla="*/ 2681 h 2681"/>
                <a:gd name="T8" fmla="*/ 0 w 2680"/>
                <a:gd name="T9" fmla="*/ 0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1">
                  <a:moveTo>
                    <a:pt x="0" y="0"/>
                  </a:moveTo>
                  <a:lnTo>
                    <a:pt x="0" y="592"/>
                  </a:lnTo>
                  <a:cubicBezTo>
                    <a:pt x="1154" y="592"/>
                    <a:pt x="2089" y="1527"/>
                    <a:pt x="2089" y="2681"/>
                  </a:cubicBezTo>
                  <a:lnTo>
                    <a:pt x="2680" y="2681"/>
                  </a:lnTo>
                  <a:cubicBezTo>
                    <a:pt x="2680" y="1200"/>
                    <a:pt x="148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A712132-18E0-F107-629B-FD0FFBC6C211}"/>
              </a:ext>
            </a:extLst>
          </p:cNvPr>
          <p:cNvSpPr txBox="1"/>
          <p:nvPr/>
        </p:nvSpPr>
        <p:spPr>
          <a:xfrm>
            <a:off x="6375369" y="5236344"/>
            <a:ext cx="1446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x-none" sz="1400" dirty="0">
                <a:solidFill>
                  <a:schemeClr val="bg1"/>
                </a:solidFill>
                <a:latin typeface="+mj-lt"/>
                <a:ea typeface="NEXON Lv2 Gothic Bold" pitchFamily="2" charset="-127"/>
              </a:rPr>
              <a:t>START</a:t>
            </a:r>
            <a:endParaRPr kumimoji="1" lang="x-none" altLang="en-US" sz="1400">
              <a:solidFill>
                <a:schemeClr val="bg1"/>
              </a:solidFill>
              <a:latin typeface="+mj-lt"/>
              <a:ea typeface="NEXON Lv2 Gothic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70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23E2DC4-4C91-B4FC-DCDD-E3901D847CCF}"/>
              </a:ext>
            </a:extLst>
          </p:cNvPr>
          <p:cNvSpPr/>
          <p:nvPr/>
        </p:nvSpPr>
        <p:spPr>
          <a:xfrm>
            <a:off x="6688393" y="-2"/>
            <a:ext cx="2455607" cy="68580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52A5A5-1AAD-4B80-1EB2-A0CA7584E873}"/>
              </a:ext>
            </a:extLst>
          </p:cNvPr>
          <p:cNvSpPr/>
          <p:nvPr/>
        </p:nvSpPr>
        <p:spPr>
          <a:xfrm>
            <a:off x="4727788" y="-2"/>
            <a:ext cx="1960606" cy="68580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FE3DA74-5276-FBFE-0125-15C9B0BCA545}"/>
              </a:ext>
            </a:extLst>
          </p:cNvPr>
          <p:cNvGrpSpPr/>
          <p:nvPr/>
        </p:nvGrpSpPr>
        <p:grpSpPr>
          <a:xfrm>
            <a:off x="5929322" y="4214818"/>
            <a:ext cx="1541988" cy="2057221"/>
            <a:chOff x="10454594" y="3233348"/>
            <a:chExt cx="1010861" cy="1011469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2E86F8DC-7597-5951-5CCF-BE04F1449B1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233653"/>
              <a:ext cx="505735" cy="505126"/>
            </a:xfrm>
            <a:custGeom>
              <a:avLst/>
              <a:gdLst>
                <a:gd name="T0" fmla="*/ 0 w 2680"/>
                <a:gd name="T1" fmla="*/ 2089 h 2680"/>
                <a:gd name="T2" fmla="*/ 0 w 2680"/>
                <a:gd name="T3" fmla="*/ 2680 h 2680"/>
                <a:gd name="T4" fmla="*/ 2680 w 2680"/>
                <a:gd name="T5" fmla="*/ 0 h 2680"/>
                <a:gd name="T6" fmla="*/ 2089 w 2680"/>
                <a:gd name="T7" fmla="*/ 0 h 2680"/>
                <a:gd name="T8" fmla="*/ 0 w 2680"/>
                <a:gd name="T9" fmla="*/ 2089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0">
                  <a:moveTo>
                    <a:pt x="0" y="2089"/>
                  </a:moveTo>
                  <a:lnTo>
                    <a:pt x="0" y="2680"/>
                  </a:lnTo>
                  <a:cubicBezTo>
                    <a:pt x="1480" y="2680"/>
                    <a:pt x="2680" y="1480"/>
                    <a:pt x="2680" y="0"/>
                  </a:cubicBezTo>
                  <a:lnTo>
                    <a:pt x="2089" y="0"/>
                  </a:lnTo>
                  <a:cubicBezTo>
                    <a:pt x="2089" y="1154"/>
                    <a:pt x="1154" y="2089"/>
                    <a:pt x="0" y="2089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1BDDCDED-949F-3165-CAED-568562191F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739387"/>
              <a:ext cx="505735" cy="505126"/>
            </a:xfrm>
            <a:custGeom>
              <a:avLst/>
              <a:gdLst>
                <a:gd name="T0" fmla="*/ 2681 w 2681"/>
                <a:gd name="T1" fmla="*/ 2680 h 2680"/>
                <a:gd name="T2" fmla="*/ 2681 w 2681"/>
                <a:gd name="T3" fmla="*/ 2089 h 2680"/>
                <a:gd name="T4" fmla="*/ 591 w 2681"/>
                <a:gd name="T5" fmla="*/ 0 h 2680"/>
                <a:gd name="T6" fmla="*/ 0 w 2681"/>
                <a:gd name="T7" fmla="*/ 0 h 2680"/>
                <a:gd name="T8" fmla="*/ 2681 w 2681"/>
                <a:gd name="T9" fmla="*/ 268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1" h="2680">
                  <a:moveTo>
                    <a:pt x="2681" y="2680"/>
                  </a:moveTo>
                  <a:lnTo>
                    <a:pt x="2681" y="2089"/>
                  </a:lnTo>
                  <a:cubicBezTo>
                    <a:pt x="1527" y="2089"/>
                    <a:pt x="591" y="1154"/>
                    <a:pt x="591" y="0"/>
                  </a:cubicBezTo>
                  <a:lnTo>
                    <a:pt x="0" y="0"/>
                  </a:lnTo>
                  <a:cubicBezTo>
                    <a:pt x="0" y="1480"/>
                    <a:pt x="1200" y="2680"/>
                    <a:pt x="2681" y="268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E4954A68-F806-846A-E403-946A51A4A32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54594" y="3233348"/>
              <a:ext cx="505735" cy="505735"/>
            </a:xfrm>
            <a:custGeom>
              <a:avLst/>
              <a:gdLst>
                <a:gd name="T0" fmla="*/ 0 w 2680"/>
                <a:gd name="T1" fmla="*/ 0 h 2681"/>
                <a:gd name="T2" fmla="*/ 0 w 2680"/>
                <a:gd name="T3" fmla="*/ 592 h 2681"/>
                <a:gd name="T4" fmla="*/ 2089 w 2680"/>
                <a:gd name="T5" fmla="*/ 2681 h 2681"/>
                <a:gd name="T6" fmla="*/ 2680 w 2680"/>
                <a:gd name="T7" fmla="*/ 2681 h 2681"/>
                <a:gd name="T8" fmla="*/ 0 w 2680"/>
                <a:gd name="T9" fmla="*/ 0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1">
                  <a:moveTo>
                    <a:pt x="0" y="0"/>
                  </a:moveTo>
                  <a:lnTo>
                    <a:pt x="0" y="592"/>
                  </a:lnTo>
                  <a:cubicBezTo>
                    <a:pt x="1154" y="592"/>
                    <a:pt x="2089" y="1527"/>
                    <a:pt x="2089" y="2681"/>
                  </a:cubicBezTo>
                  <a:lnTo>
                    <a:pt x="2680" y="2681"/>
                  </a:lnTo>
                  <a:cubicBezTo>
                    <a:pt x="2680" y="1200"/>
                    <a:pt x="1480" y="0"/>
                    <a:pt x="0" y="0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D6C9715-F488-209A-ED91-7302C900C830}"/>
              </a:ext>
            </a:extLst>
          </p:cNvPr>
          <p:cNvSpPr txBox="1"/>
          <p:nvPr/>
        </p:nvSpPr>
        <p:spPr>
          <a:xfrm>
            <a:off x="4727788" y="1106296"/>
            <a:ext cx="441621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>
                <a:solidFill>
                  <a:schemeClr val="accent1">
                    <a:lumMod val="50000"/>
                  </a:schemeClr>
                </a:solidFill>
              </a:rPr>
              <a:t>Օպտիմալացման գործընթացների չափայնության նվազեցման միջոցի մշակման նշանակությունը</a:t>
            </a:r>
            <a:endParaRPr lang="ru-RU" sz="32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ru-RU" sz="3200" dirty="0">
              <a:solidFill>
                <a:schemeClr val="accent4">
                  <a:lumMod val="40000"/>
                  <a:lumOff val="60000"/>
                </a:schemeClr>
              </a:solidFill>
              <a:latin typeface="Sylfae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A14EF5-3C9A-3F23-C812-125DAA429501}"/>
              </a:ext>
            </a:extLst>
          </p:cNvPr>
          <p:cNvSpPr txBox="1"/>
          <p:nvPr/>
        </p:nvSpPr>
        <p:spPr>
          <a:xfrm>
            <a:off x="-400509" y="25471"/>
            <a:ext cx="494823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hy-AM" sz="2400" dirty="0"/>
              <a:t>       Օպտիմալացման պատմությունը հին է, որքան մարդկային բանականությունը։ Այն սկսվում է այնտեղ, որտեղ կա նպատակ և սահմանափակ ռեսուրս։ Մեր օրերում, երբ տվյալների ծավալներն աճում են աննախադեպ տեմպերով, օպտիմալացումը դարձել է տնտեսության, ինժեներիայի և արհեստական բանականության հիմնասյունը։ Սակայն, որքան բարդանում են համակարգերը, այնքան ավելի դժվար է դառնում գտնել լավագույն լուծումը։</a:t>
            </a:r>
            <a:endParaRPr lang="ru-RU" sz="2400" dirty="0">
              <a:solidFill>
                <a:schemeClr val="accent1">
                  <a:lumMod val="50000"/>
                </a:schemeClr>
              </a:solidFill>
              <a:latin typeface="Sylfaen" pitchFamily="18" charset="0"/>
            </a:endParaRPr>
          </a:p>
        </p:txBody>
      </p:sp>
      <p:grpSp>
        <p:nvGrpSpPr>
          <p:cNvPr id="21" name="그룹 8">
            <a:extLst>
              <a:ext uri="{FF2B5EF4-FFF2-40B4-BE49-F238E27FC236}">
                <a16:creationId xmlns:a16="http://schemas.microsoft.com/office/drawing/2014/main" id="{65D8BD2E-D9E0-A9DB-95C7-57AEE586E98A}"/>
              </a:ext>
            </a:extLst>
          </p:cNvPr>
          <p:cNvGrpSpPr/>
          <p:nvPr/>
        </p:nvGrpSpPr>
        <p:grpSpPr>
          <a:xfrm rot="16200000">
            <a:off x="7724796" y="-61938"/>
            <a:ext cx="571504" cy="1714512"/>
            <a:chOff x="10673553" y="2347274"/>
            <a:chExt cx="403152" cy="1193100"/>
          </a:xfrm>
          <a:solidFill>
            <a:schemeClr val="accent4">
              <a:lumMod val="75000"/>
            </a:schemeClr>
          </a:solidFill>
        </p:grpSpPr>
        <p:sp>
          <p:nvSpPr>
            <p:cNvPr id="22" name="Oval 100">
              <a:extLst>
                <a:ext uri="{FF2B5EF4-FFF2-40B4-BE49-F238E27FC236}">
                  <a16:creationId xmlns:a16="http://schemas.microsoft.com/office/drawing/2014/main" id="{62F43B8E-1F40-93F3-8C1F-6C5C452C32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6276" y="3401451"/>
              <a:ext cx="136201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4" name="Oval 101">
              <a:extLst>
                <a:ext uri="{FF2B5EF4-FFF2-40B4-BE49-F238E27FC236}">
                  <a16:creationId xmlns:a16="http://schemas.microsoft.com/office/drawing/2014/main" id="{21FB730C-A085-E8BE-9F7D-EB6F268C3A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313722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5" name="Oval 102">
              <a:extLst>
                <a:ext uri="{FF2B5EF4-FFF2-40B4-BE49-F238E27FC236}">
                  <a16:creationId xmlns:a16="http://schemas.microsoft.com/office/drawing/2014/main" id="{40ABE35E-D391-A5D5-A488-F319D3092B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875723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6" name="Oval 103">
              <a:extLst>
                <a:ext uri="{FF2B5EF4-FFF2-40B4-BE49-F238E27FC236}">
                  <a16:creationId xmlns:a16="http://schemas.microsoft.com/office/drawing/2014/main" id="{F55A2068-9DB0-C667-46A1-1A5943E7B4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608777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7" name="Oval 104">
              <a:extLst>
                <a:ext uri="{FF2B5EF4-FFF2-40B4-BE49-F238E27FC236}">
                  <a16:creationId xmlns:a16="http://schemas.microsoft.com/office/drawing/2014/main" id="{15CBB6E1-7650-0269-42A5-89E30592A1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34727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8" name="Oval 105">
              <a:extLst>
                <a:ext uri="{FF2B5EF4-FFF2-40B4-BE49-F238E27FC236}">
                  <a16:creationId xmlns:a16="http://schemas.microsoft.com/office/drawing/2014/main" id="{70830182-DA04-E111-A97B-35C8062ED2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40501" y="3404170"/>
              <a:ext cx="136201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9" name="Oval 106">
              <a:extLst>
                <a:ext uri="{FF2B5EF4-FFF2-40B4-BE49-F238E27FC236}">
                  <a16:creationId xmlns:a16="http://schemas.microsoft.com/office/drawing/2014/main" id="{4898DBB2-B1F3-FC31-CD7B-481169FD1F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3139948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0" name="Oval 107">
              <a:extLst>
                <a:ext uri="{FF2B5EF4-FFF2-40B4-BE49-F238E27FC236}">
                  <a16:creationId xmlns:a16="http://schemas.microsoft.com/office/drawing/2014/main" id="{6E109224-0E76-94EF-8093-6AA2760294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878447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1" name="Oval 108">
              <a:extLst>
                <a:ext uri="{FF2B5EF4-FFF2-40B4-BE49-F238E27FC236}">
                  <a16:creationId xmlns:a16="http://schemas.microsoft.com/office/drawing/2014/main" id="{C64C0DE9-77DC-FCF0-1A1F-444931C6E7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611501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2" name="Oval 109">
              <a:extLst>
                <a:ext uri="{FF2B5EF4-FFF2-40B4-BE49-F238E27FC236}">
                  <a16:creationId xmlns:a16="http://schemas.microsoft.com/office/drawing/2014/main" id="{D2580A21-545E-8C9E-9315-6169F7A592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350000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9236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DD0A35-F8DA-40E5-F751-30A19DDD69B7}"/>
              </a:ext>
            </a:extLst>
          </p:cNvPr>
          <p:cNvSpPr/>
          <p:nvPr/>
        </p:nvSpPr>
        <p:spPr>
          <a:xfrm>
            <a:off x="2882492" y="-2"/>
            <a:ext cx="1686478" cy="68580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E6BB52-0ECC-E3A7-57AF-00D28E86C3C7}"/>
              </a:ext>
            </a:extLst>
          </p:cNvPr>
          <p:cNvSpPr/>
          <p:nvPr/>
        </p:nvSpPr>
        <p:spPr>
          <a:xfrm>
            <a:off x="1" y="0"/>
            <a:ext cx="374609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pic>
        <p:nvPicPr>
          <p:cNvPr id="6" name="그림 개체 틀 5">
            <a:extLst>
              <a:ext uri="{FF2B5EF4-FFF2-40B4-BE49-F238E27FC236}">
                <a16:creationId xmlns:a16="http://schemas.microsoft.com/office/drawing/2014/main" id="{3548019A-457A-9D4E-1A7E-3AC6653324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/>
          <a:srcRect t="1511" b="1511"/>
          <a:stretch>
            <a:fillRect/>
          </a:stretch>
        </p:blipFill>
        <p:spPr>
          <a:xfrm>
            <a:off x="1490663" y="4995"/>
            <a:ext cx="3081337" cy="5072074"/>
          </a:xfr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70E5614-D831-A4BA-AE98-5C73769A0E11}"/>
              </a:ext>
            </a:extLst>
          </p:cNvPr>
          <p:cNvGrpSpPr/>
          <p:nvPr/>
        </p:nvGrpSpPr>
        <p:grpSpPr>
          <a:xfrm rot="5400000">
            <a:off x="-1195725" y="1776198"/>
            <a:ext cx="4090217" cy="537827"/>
            <a:chOff x="8019974" y="1715763"/>
            <a:chExt cx="2820806" cy="320306"/>
          </a:xfrm>
        </p:grpSpPr>
        <p:sp>
          <p:nvSpPr>
            <p:cNvPr id="4" name="Rectangle 309">
              <a:extLst>
                <a:ext uri="{FF2B5EF4-FFF2-40B4-BE49-F238E27FC236}">
                  <a16:creationId xmlns:a16="http://schemas.microsoft.com/office/drawing/2014/main" id="{F8D56E7E-A4A0-5CB9-8987-44010F566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9974" y="1715763"/>
              <a:ext cx="2389881" cy="8556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" name="Rectangle 310">
              <a:extLst>
                <a:ext uri="{FF2B5EF4-FFF2-40B4-BE49-F238E27FC236}">
                  <a16:creationId xmlns:a16="http://schemas.microsoft.com/office/drawing/2014/main" id="{4BD42CC6-13B9-6595-F3AB-DA8484665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6374" y="1950502"/>
              <a:ext cx="1514406" cy="8556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88B93D0-C2D4-41EB-BD6A-1E548A2A0DE2}"/>
              </a:ext>
            </a:extLst>
          </p:cNvPr>
          <p:cNvSpPr txBox="1"/>
          <p:nvPr/>
        </p:nvSpPr>
        <p:spPr>
          <a:xfrm>
            <a:off x="179512" y="5199329"/>
            <a:ext cx="5405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hy-AM" altLang="en-US" sz="3600" b="1" dirty="0">
                <a:solidFill>
                  <a:schemeClr val="tx2">
                    <a:lumMod val="50000"/>
                  </a:schemeClr>
                </a:solidFill>
                <a:effectLst>
                  <a:outerShdw blurRad="314867" sx="102000" sy="102000" algn="ctr" rotWithShape="0">
                    <a:prstClr val="black">
                      <a:alpha val="82000"/>
                    </a:prstClr>
                  </a:outerShdw>
                </a:effectLst>
                <a:latin typeface="Sylfaen" pitchFamily="18" charset="0"/>
                <a:ea typeface="NEXON Lv2 Gothic Bold" pitchFamily="2" charset="-127"/>
              </a:rPr>
              <a:t>ՉԱՓԱՅՆՈՒԹՅԱՆ ԱՆԻԾՅԱԼ ԽՆԴԻՐԸ</a:t>
            </a:r>
            <a:endParaRPr kumimoji="1" lang="x-none" altLang="en-US" sz="3600" dirty="0">
              <a:solidFill>
                <a:schemeClr val="tx2">
                  <a:lumMod val="50000"/>
                </a:schemeClr>
              </a:solidFill>
              <a:effectLst>
                <a:outerShdw blurRad="314867" sx="102000" sy="102000" algn="ctr" rotWithShape="0">
                  <a:prstClr val="black">
                    <a:alpha val="82000"/>
                  </a:prstClr>
                </a:outerShdw>
              </a:effectLst>
              <a:latin typeface="Sylfaen" pitchFamily="18" charset="0"/>
              <a:ea typeface="NEXON Lv2 Gothic Bold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F20C67-D58F-3872-8D7C-CEABED8557D2}"/>
              </a:ext>
            </a:extLst>
          </p:cNvPr>
          <p:cNvSpPr txBox="1"/>
          <p:nvPr/>
        </p:nvSpPr>
        <p:spPr>
          <a:xfrm>
            <a:off x="4568970" y="78423"/>
            <a:ext cx="456992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AM" sz="2400" dirty="0">
                <a:solidFill>
                  <a:schemeClr val="tx2"/>
                </a:solidFill>
              </a:rPr>
              <a:t>Իմ հետազոտության առաջին հատվածում ես անդրադարձել եմ մի մարտահրավերի, որը գիտնական Ռիչարդ Բելմանը կնքել է </a:t>
            </a:r>
            <a:r>
              <a:rPr lang="ru-AM" sz="2400" b="1" dirty="0">
                <a:solidFill>
                  <a:schemeClr val="tx2"/>
                </a:solidFill>
              </a:rPr>
              <a:t>«չափայնության անիծյալ խնդիր»</a:t>
            </a:r>
            <a:r>
              <a:rPr lang="ru-AM" sz="2400" dirty="0">
                <a:solidFill>
                  <a:schemeClr val="tx2"/>
                </a:solidFill>
              </a:rPr>
              <a:t> (Curse of Dimensionality) անվամբ։ Խնդրի էությունը հետևյալն է. փոփոխականների թվի աճի հետ որոնման տարածքի ծավալը մեծանում է էքսպոնենցիալ կերպով։ Եթե ունենք ընդամենը 10 փոփոխական և յուրաքանչյուրի համար 10 հնարավոր արժեք, մենք արդեն գործ ունենք 10 միլիարդ տարբերակի հետ։</a:t>
            </a:r>
          </a:p>
        </p:txBody>
      </p:sp>
    </p:spTree>
    <p:extLst>
      <p:ext uri="{BB962C8B-B14F-4D97-AF65-F5344CB8AC3E}">
        <p14:creationId xmlns:p14="http://schemas.microsoft.com/office/powerpoint/2010/main" val="84698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23E2DC4-4C91-B4FC-DCDD-E3901D847CCF}"/>
              </a:ext>
            </a:extLst>
          </p:cNvPr>
          <p:cNvSpPr/>
          <p:nvPr/>
        </p:nvSpPr>
        <p:spPr>
          <a:xfrm>
            <a:off x="7143768" y="0"/>
            <a:ext cx="2000232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52A5A5-1AAD-4B80-1EB2-A0CA7584E873}"/>
              </a:ext>
            </a:extLst>
          </p:cNvPr>
          <p:cNvSpPr/>
          <p:nvPr/>
        </p:nvSpPr>
        <p:spPr>
          <a:xfrm>
            <a:off x="5357818" y="0"/>
            <a:ext cx="2516444" cy="68580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grpSp>
        <p:nvGrpSpPr>
          <p:cNvPr id="4" name="그룹 7">
            <a:extLst>
              <a:ext uri="{FF2B5EF4-FFF2-40B4-BE49-F238E27FC236}">
                <a16:creationId xmlns:a16="http://schemas.microsoft.com/office/drawing/2014/main" id="{0FE3DA74-5276-FBFE-0125-15C9B0BCA545}"/>
              </a:ext>
            </a:extLst>
          </p:cNvPr>
          <p:cNvGrpSpPr/>
          <p:nvPr/>
        </p:nvGrpSpPr>
        <p:grpSpPr>
          <a:xfrm>
            <a:off x="7143768" y="4286256"/>
            <a:ext cx="1541988" cy="2057221"/>
            <a:chOff x="10454594" y="3233348"/>
            <a:chExt cx="1010861" cy="1011469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2E86F8DC-7597-5951-5CCF-BE04F1449B1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233653"/>
              <a:ext cx="505735" cy="505126"/>
            </a:xfrm>
            <a:custGeom>
              <a:avLst/>
              <a:gdLst>
                <a:gd name="T0" fmla="*/ 0 w 2680"/>
                <a:gd name="T1" fmla="*/ 2089 h 2680"/>
                <a:gd name="T2" fmla="*/ 0 w 2680"/>
                <a:gd name="T3" fmla="*/ 2680 h 2680"/>
                <a:gd name="T4" fmla="*/ 2680 w 2680"/>
                <a:gd name="T5" fmla="*/ 0 h 2680"/>
                <a:gd name="T6" fmla="*/ 2089 w 2680"/>
                <a:gd name="T7" fmla="*/ 0 h 2680"/>
                <a:gd name="T8" fmla="*/ 0 w 2680"/>
                <a:gd name="T9" fmla="*/ 2089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0">
                  <a:moveTo>
                    <a:pt x="0" y="2089"/>
                  </a:moveTo>
                  <a:lnTo>
                    <a:pt x="0" y="2680"/>
                  </a:lnTo>
                  <a:cubicBezTo>
                    <a:pt x="1480" y="2680"/>
                    <a:pt x="2680" y="1480"/>
                    <a:pt x="2680" y="0"/>
                  </a:cubicBezTo>
                  <a:lnTo>
                    <a:pt x="2089" y="0"/>
                  </a:lnTo>
                  <a:cubicBezTo>
                    <a:pt x="2089" y="1154"/>
                    <a:pt x="1154" y="2089"/>
                    <a:pt x="0" y="2089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1BDDCDED-949F-3165-CAED-568562191F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739387"/>
              <a:ext cx="505735" cy="505126"/>
            </a:xfrm>
            <a:custGeom>
              <a:avLst/>
              <a:gdLst>
                <a:gd name="T0" fmla="*/ 2681 w 2681"/>
                <a:gd name="T1" fmla="*/ 2680 h 2680"/>
                <a:gd name="T2" fmla="*/ 2681 w 2681"/>
                <a:gd name="T3" fmla="*/ 2089 h 2680"/>
                <a:gd name="T4" fmla="*/ 591 w 2681"/>
                <a:gd name="T5" fmla="*/ 0 h 2680"/>
                <a:gd name="T6" fmla="*/ 0 w 2681"/>
                <a:gd name="T7" fmla="*/ 0 h 2680"/>
                <a:gd name="T8" fmla="*/ 2681 w 2681"/>
                <a:gd name="T9" fmla="*/ 268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1" h="2680">
                  <a:moveTo>
                    <a:pt x="2681" y="2680"/>
                  </a:moveTo>
                  <a:lnTo>
                    <a:pt x="2681" y="2089"/>
                  </a:lnTo>
                  <a:cubicBezTo>
                    <a:pt x="1527" y="2089"/>
                    <a:pt x="591" y="1154"/>
                    <a:pt x="591" y="0"/>
                  </a:cubicBezTo>
                  <a:lnTo>
                    <a:pt x="0" y="0"/>
                  </a:lnTo>
                  <a:cubicBezTo>
                    <a:pt x="0" y="1480"/>
                    <a:pt x="1200" y="2680"/>
                    <a:pt x="2681" y="268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E4954A68-F806-846A-E403-946A51A4A32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54594" y="3233348"/>
              <a:ext cx="505735" cy="505735"/>
            </a:xfrm>
            <a:custGeom>
              <a:avLst/>
              <a:gdLst>
                <a:gd name="T0" fmla="*/ 0 w 2680"/>
                <a:gd name="T1" fmla="*/ 0 h 2681"/>
                <a:gd name="T2" fmla="*/ 0 w 2680"/>
                <a:gd name="T3" fmla="*/ 592 h 2681"/>
                <a:gd name="T4" fmla="*/ 2089 w 2680"/>
                <a:gd name="T5" fmla="*/ 2681 h 2681"/>
                <a:gd name="T6" fmla="*/ 2680 w 2680"/>
                <a:gd name="T7" fmla="*/ 2681 h 2681"/>
                <a:gd name="T8" fmla="*/ 0 w 2680"/>
                <a:gd name="T9" fmla="*/ 0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1">
                  <a:moveTo>
                    <a:pt x="0" y="0"/>
                  </a:moveTo>
                  <a:lnTo>
                    <a:pt x="0" y="592"/>
                  </a:lnTo>
                  <a:cubicBezTo>
                    <a:pt x="1154" y="592"/>
                    <a:pt x="2089" y="1527"/>
                    <a:pt x="2089" y="2681"/>
                  </a:cubicBezTo>
                  <a:lnTo>
                    <a:pt x="2680" y="2681"/>
                  </a:lnTo>
                  <a:cubicBezTo>
                    <a:pt x="2680" y="1200"/>
                    <a:pt x="1480" y="0"/>
                    <a:pt x="0" y="0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8" name="그룹 8">
            <a:extLst>
              <a:ext uri="{FF2B5EF4-FFF2-40B4-BE49-F238E27FC236}">
                <a16:creationId xmlns:a16="http://schemas.microsoft.com/office/drawing/2014/main" id="{65D8BD2E-D9E0-A9DB-95C7-57AEE586E98A}"/>
              </a:ext>
            </a:extLst>
          </p:cNvPr>
          <p:cNvGrpSpPr/>
          <p:nvPr/>
        </p:nvGrpSpPr>
        <p:grpSpPr>
          <a:xfrm rot="16200000">
            <a:off x="7572396" y="-214338"/>
            <a:ext cx="571504" cy="1714512"/>
            <a:chOff x="10673553" y="2347274"/>
            <a:chExt cx="403152" cy="1193100"/>
          </a:xfrm>
          <a:solidFill>
            <a:schemeClr val="accent4">
              <a:lumMod val="75000"/>
            </a:schemeClr>
          </a:solidFill>
        </p:grpSpPr>
        <p:sp>
          <p:nvSpPr>
            <p:cNvPr id="10" name="Oval 100">
              <a:extLst>
                <a:ext uri="{FF2B5EF4-FFF2-40B4-BE49-F238E27FC236}">
                  <a16:creationId xmlns:a16="http://schemas.microsoft.com/office/drawing/2014/main" id="{62F43B8E-1F40-93F3-8C1F-6C5C452C32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6276" y="3401451"/>
              <a:ext cx="136201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1" name="Oval 101">
              <a:extLst>
                <a:ext uri="{FF2B5EF4-FFF2-40B4-BE49-F238E27FC236}">
                  <a16:creationId xmlns:a16="http://schemas.microsoft.com/office/drawing/2014/main" id="{21FB730C-A085-E8BE-9F7D-EB6F268C3A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313722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2" name="Oval 102">
              <a:extLst>
                <a:ext uri="{FF2B5EF4-FFF2-40B4-BE49-F238E27FC236}">
                  <a16:creationId xmlns:a16="http://schemas.microsoft.com/office/drawing/2014/main" id="{40ABE35E-D391-A5D5-A488-F319D3092B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875723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3" name="Oval 103">
              <a:extLst>
                <a:ext uri="{FF2B5EF4-FFF2-40B4-BE49-F238E27FC236}">
                  <a16:creationId xmlns:a16="http://schemas.microsoft.com/office/drawing/2014/main" id="{F55A2068-9DB0-C667-46A1-1A5943E7B4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608777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4" name="Oval 104">
              <a:extLst>
                <a:ext uri="{FF2B5EF4-FFF2-40B4-BE49-F238E27FC236}">
                  <a16:creationId xmlns:a16="http://schemas.microsoft.com/office/drawing/2014/main" id="{15CBB6E1-7650-0269-42A5-89E30592A1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34727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5" name="Oval 105">
              <a:extLst>
                <a:ext uri="{FF2B5EF4-FFF2-40B4-BE49-F238E27FC236}">
                  <a16:creationId xmlns:a16="http://schemas.microsoft.com/office/drawing/2014/main" id="{70830182-DA04-E111-A97B-35C8062ED2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40501" y="3404170"/>
              <a:ext cx="136201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6" name="Oval 106">
              <a:extLst>
                <a:ext uri="{FF2B5EF4-FFF2-40B4-BE49-F238E27FC236}">
                  <a16:creationId xmlns:a16="http://schemas.microsoft.com/office/drawing/2014/main" id="{4898DBB2-B1F3-FC31-CD7B-481169FD1F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3139948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7" name="Oval 107">
              <a:extLst>
                <a:ext uri="{FF2B5EF4-FFF2-40B4-BE49-F238E27FC236}">
                  <a16:creationId xmlns:a16="http://schemas.microsoft.com/office/drawing/2014/main" id="{6E109224-0E76-94EF-8093-6AA2760294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878447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8" name="Oval 108">
              <a:extLst>
                <a:ext uri="{FF2B5EF4-FFF2-40B4-BE49-F238E27FC236}">
                  <a16:creationId xmlns:a16="http://schemas.microsoft.com/office/drawing/2014/main" id="{C64C0DE9-77DC-FCF0-1A1F-444931C6E7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611501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9" name="Oval 109">
              <a:extLst>
                <a:ext uri="{FF2B5EF4-FFF2-40B4-BE49-F238E27FC236}">
                  <a16:creationId xmlns:a16="http://schemas.microsoft.com/office/drawing/2014/main" id="{D2580A21-545E-8C9E-9315-6169F7A592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350000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D6C9715-F488-209A-ED91-7302C900C830}"/>
              </a:ext>
            </a:extLst>
          </p:cNvPr>
          <p:cNvSpPr txBox="1"/>
          <p:nvPr/>
        </p:nvSpPr>
        <p:spPr>
          <a:xfrm>
            <a:off x="5357818" y="1106296"/>
            <a:ext cx="3786182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Բարձր չափայնության խնդիրներ և դրանց ազդեցությունը</a:t>
            </a:r>
            <a:endParaRPr lang="ru-RU" sz="3600" b="1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ru-RU" sz="3200" dirty="0">
              <a:solidFill>
                <a:schemeClr val="accent4">
                  <a:lumMod val="40000"/>
                  <a:lumOff val="60000"/>
                </a:schemeClr>
              </a:solidFill>
              <a:latin typeface="Sylfae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A14EF5-3C9A-3F23-C812-125DAA429501}"/>
              </a:ext>
            </a:extLst>
          </p:cNvPr>
          <p:cNvSpPr txBox="1"/>
          <p:nvPr/>
        </p:nvSpPr>
        <p:spPr>
          <a:xfrm>
            <a:off x="-23099" y="135791"/>
            <a:ext cx="5360435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itchFamily="2" charset="2"/>
              <a:buChar char="v"/>
            </a:pPr>
            <a:r>
              <a:rPr lang="ru-AM" sz="2400" b="1" dirty="0"/>
              <a:t>Տվյալների բարակություն (Sparsity).</a:t>
            </a:r>
            <a:r>
              <a:rPr lang="ru-AM" sz="2400" dirty="0"/>
              <a:t> Տվյալների կետերը դառնում են իրարից չափազանց հեռու, ինչը դժվարացնում է օրինաչափությունների բացահայտումը։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AM" sz="2400" b="1" dirty="0"/>
              <a:t>Թամբի (Saddle) կետերի առատություն.</a:t>
            </a:r>
            <a:r>
              <a:rPr lang="ru-AM" sz="2400" dirty="0"/>
              <a:t> Օպտիմալացման ֆունկցիայի լանդշաֆտը ծածկվում է կետերով, որոնք մինիմում կամ մաքսիմում չեն, բայց կանգնեցնում են ալգորիթմի առաջընթացը։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AM" sz="2400" b="1" dirty="0"/>
              <a:t>Հաշվարկային ծախսատարություն.</a:t>
            </a:r>
            <a:r>
              <a:rPr lang="ru-AM" sz="2400" dirty="0"/>
              <a:t> Երկրորդ կարգի մեթոդների համար անհրաժեշտ Հեսիանի մատրիցի հաշվարկը դառնում է անիրագործելի։</a:t>
            </a:r>
          </a:p>
          <a:p>
            <a:pPr marL="457200" indent="-457200"/>
            <a:endParaRPr lang="ru-RU" sz="1400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236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23E2DC4-4C91-B4FC-DCDD-E3901D847CCF}"/>
              </a:ext>
            </a:extLst>
          </p:cNvPr>
          <p:cNvSpPr/>
          <p:nvPr/>
        </p:nvSpPr>
        <p:spPr>
          <a:xfrm>
            <a:off x="7143768" y="0"/>
            <a:ext cx="2000232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52A5A5-1AAD-4B80-1EB2-A0CA7584E873}"/>
              </a:ext>
            </a:extLst>
          </p:cNvPr>
          <p:cNvSpPr/>
          <p:nvPr/>
        </p:nvSpPr>
        <p:spPr>
          <a:xfrm>
            <a:off x="6210554" y="0"/>
            <a:ext cx="1663707" cy="68580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grpSp>
        <p:nvGrpSpPr>
          <p:cNvPr id="4" name="그룹 7">
            <a:extLst>
              <a:ext uri="{FF2B5EF4-FFF2-40B4-BE49-F238E27FC236}">
                <a16:creationId xmlns:a16="http://schemas.microsoft.com/office/drawing/2014/main" id="{0FE3DA74-5276-FBFE-0125-15C9B0BCA545}"/>
              </a:ext>
            </a:extLst>
          </p:cNvPr>
          <p:cNvGrpSpPr/>
          <p:nvPr/>
        </p:nvGrpSpPr>
        <p:grpSpPr>
          <a:xfrm>
            <a:off x="7143768" y="4286256"/>
            <a:ext cx="1541988" cy="2057221"/>
            <a:chOff x="10454594" y="3233348"/>
            <a:chExt cx="1010861" cy="1011469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2E86F8DC-7597-5951-5CCF-BE04F1449B1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233653"/>
              <a:ext cx="505735" cy="505126"/>
            </a:xfrm>
            <a:custGeom>
              <a:avLst/>
              <a:gdLst>
                <a:gd name="T0" fmla="*/ 0 w 2680"/>
                <a:gd name="T1" fmla="*/ 2089 h 2680"/>
                <a:gd name="T2" fmla="*/ 0 w 2680"/>
                <a:gd name="T3" fmla="*/ 2680 h 2680"/>
                <a:gd name="T4" fmla="*/ 2680 w 2680"/>
                <a:gd name="T5" fmla="*/ 0 h 2680"/>
                <a:gd name="T6" fmla="*/ 2089 w 2680"/>
                <a:gd name="T7" fmla="*/ 0 h 2680"/>
                <a:gd name="T8" fmla="*/ 0 w 2680"/>
                <a:gd name="T9" fmla="*/ 2089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0">
                  <a:moveTo>
                    <a:pt x="0" y="2089"/>
                  </a:moveTo>
                  <a:lnTo>
                    <a:pt x="0" y="2680"/>
                  </a:lnTo>
                  <a:cubicBezTo>
                    <a:pt x="1480" y="2680"/>
                    <a:pt x="2680" y="1480"/>
                    <a:pt x="2680" y="0"/>
                  </a:cubicBezTo>
                  <a:lnTo>
                    <a:pt x="2089" y="0"/>
                  </a:lnTo>
                  <a:cubicBezTo>
                    <a:pt x="2089" y="1154"/>
                    <a:pt x="1154" y="2089"/>
                    <a:pt x="0" y="2089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1BDDCDED-949F-3165-CAED-568562191F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739387"/>
              <a:ext cx="505735" cy="505126"/>
            </a:xfrm>
            <a:custGeom>
              <a:avLst/>
              <a:gdLst>
                <a:gd name="T0" fmla="*/ 2681 w 2681"/>
                <a:gd name="T1" fmla="*/ 2680 h 2680"/>
                <a:gd name="T2" fmla="*/ 2681 w 2681"/>
                <a:gd name="T3" fmla="*/ 2089 h 2680"/>
                <a:gd name="T4" fmla="*/ 591 w 2681"/>
                <a:gd name="T5" fmla="*/ 0 h 2680"/>
                <a:gd name="T6" fmla="*/ 0 w 2681"/>
                <a:gd name="T7" fmla="*/ 0 h 2680"/>
                <a:gd name="T8" fmla="*/ 2681 w 2681"/>
                <a:gd name="T9" fmla="*/ 268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1" h="2680">
                  <a:moveTo>
                    <a:pt x="2681" y="2680"/>
                  </a:moveTo>
                  <a:lnTo>
                    <a:pt x="2681" y="2089"/>
                  </a:lnTo>
                  <a:cubicBezTo>
                    <a:pt x="1527" y="2089"/>
                    <a:pt x="591" y="1154"/>
                    <a:pt x="591" y="0"/>
                  </a:cubicBezTo>
                  <a:lnTo>
                    <a:pt x="0" y="0"/>
                  </a:lnTo>
                  <a:cubicBezTo>
                    <a:pt x="0" y="1480"/>
                    <a:pt x="1200" y="2680"/>
                    <a:pt x="2681" y="268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E4954A68-F806-846A-E403-946A51A4A32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54594" y="3233348"/>
              <a:ext cx="505735" cy="505735"/>
            </a:xfrm>
            <a:custGeom>
              <a:avLst/>
              <a:gdLst>
                <a:gd name="T0" fmla="*/ 0 w 2680"/>
                <a:gd name="T1" fmla="*/ 0 h 2681"/>
                <a:gd name="T2" fmla="*/ 0 w 2680"/>
                <a:gd name="T3" fmla="*/ 592 h 2681"/>
                <a:gd name="T4" fmla="*/ 2089 w 2680"/>
                <a:gd name="T5" fmla="*/ 2681 h 2681"/>
                <a:gd name="T6" fmla="*/ 2680 w 2680"/>
                <a:gd name="T7" fmla="*/ 2681 h 2681"/>
                <a:gd name="T8" fmla="*/ 0 w 2680"/>
                <a:gd name="T9" fmla="*/ 0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1">
                  <a:moveTo>
                    <a:pt x="0" y="0"/>
                  </a:moveTo>
                  <a:lnTo>
                    <a:pt x="0" y="592"/>
                  </a:lnTo>
                  <a:cubicBezTo>
                    <a:pt x="1154" y="592"/>
                    <a:pt x="2089" y="1527"/>
                    <a:pt x="2089" y="2681"/>
                  </a:cubicBezTo>
                  <a:lnTo>
                    <a:pt x="2680" y="2681"/>
                  </a:lnTo>
                  <a:cubicBezTo>
                    <a:pt x="2680" y="1200"/>
                    <a:pt x="1480" y="0"/>
                    <a:pt x="0" y="0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8" name="그룹 8">
            <a:extLst>
              <a:ext uri="{FF2B5EF4-FFF2-40B4-BE49-F238E27FC236}">
                <a16:creationId xmlns:a16="http://schemas.microsoft.com/office/drawing/2014/main" id="{65D8BD2E-D9E0-A9DB-95C7-57AEE586E98A}"/>
              </a:ext>
            </a:extLst>
          </p:cNvPr>
          <p:cNvGrpSpPr/>
          <p:nvPr/>
        </p:nvGrpSpPr>
        <p:grpSpPr>
          <a:xfrm rot="16200000">
            <a:off x="7572396" y="-214338"/>
            <a:ext cx="571504" cy="1714512"/>
            <a:chOff x="10673553" y="2347274"/>
            <a:chExt cx="403152" cy="1193100"/>
          </a:xfrm>
          <a:solidFill>
            <a:schemeClr val="accent4">
              <a:lumMod val="75000"/>
            </a:schemeClr>
          </a:solidFill>
        </p:grpSpPr>
        <p:sp>
          <p:nvSpPr>
            <p:cNvPr id="10" name="Oval 100">
              <a:extLst>
                <a:ext uri="{FF2B5EF4-FFF2-40B4-BE49-F238E27FC236}">
                  <a16:creationId xmlns:a16="http://schemas.microsoft.com/office/drawing/2014/main" id="{62F43B8E-1F40-93F3-8C1F-6C5C452C32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6276" y="3401451"/>
              <a:ext cx="136201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1" name="Oval 101">
              <a:extLst>
                <a:ext uri="{FF2B5EF4-FFF2-40B4-BE49-F238E27FC236}">
                  <a16:creationId xmlns:a16="http://schemas.microsoft.com/office/drawing/2014/main" id="{21FB730C-A085-E8BE-9F7D-EB6F268C3A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313722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2" name="Oval 102">
              <a:extLst>
                <a:ext uri="{FF2B5EF4-FFF2-40B4-BE49-F238E27FC236}">
                  <a16:creationId xmlns:a16="http://schemas.microsoft.com/office/drawing/2014/main" id="{40ABE35E-D391-A5D5-A488-F319D3092B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875723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3" name="Oval 103">
              <a:extLst>
                <a:ext uri="{FF2B5EF4-FFF2-40B4-BE49-F238E27FC236}">
                  <a16:creationId xmlns:a16="http://schemas.microsoft.com/office/drawing/2014/main" id="{F55A2068-9DB0-C667-46A1-1A5943E7B4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608777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4" name="Oval 104">
              <a:extLst>
                <a:ext uri="{FF2B5EF4-FFF2-40B4-BE49-F238E27FC236}">
                  <a16:creationId xmlns:a16="http://schemas.microsoft.com/office/drawing/2014/main" id="{15CBB6E1-7650-0269-42A5-89E30592A1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34727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5" name="Oval 105">
              <a:extLst>
                <a:ext uri="{FF2B5EF4-FFF2-40B4-BE49-F238E27FC236}">
                  <a16:creationId xmlns:a16="http://schemas.microsoft.com/office/drawing/2014/main" id="{70830182-DA04-E111-A97B-35C8062ED2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40501" y="3404170"/>
              <a:ext cx="136201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6" name="Oval 106">
              <a:extLst>
                <a:ext uri="{FF2B5EF4-FFF2-40B4-BE49-F238E27FC236}">
                  <a16:creationId xmlns:a16="http://schemas.microsoft.com/office/drawing/2014/main" id="{4898DBB2-B1F3-FC31-CD7B-481169FD1F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3139948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7" name="Oval 107">
              <a:extLst>
                <a:ext uri="{FF2B5EF4-FFF2-40B4-BE49-F238E27FC236}">
                  <a16:creationId xmlns:a16="http://schemas.microsoft.com/office/drawing/2014/main" id="{6E109224-0E76-94EF-8093-6AA2760294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878447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8" name="Oval 108">
              <a:extLst>
                <a:ext uri="{FF2B5EF4-FFF2-40B4-BE49-F238E27FC236}">
                  <a16:creationId xmlns:a16="http://schemas.microsoft.com/office/drawing/2014/main" id="{C64C0DE9-77DC-FCF0-1A1F-444931C6E7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611501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9" name="Oval 109">
              <a:extLst>
                <a:ext uri="{FF2B5EF4-FFF2-40B4-BE49-F238E27FC236}">
                  <a16:creationId xmlns:a16="http://schemas.microsoft.com/office/drawing/2014/main" id="{D2580A21-545E-8C9E-9315-6169F7A592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350000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D6C9715-F488-209A-ED91-7302C900C830}"/>
              </a:ext>
            </a:extLst>
          </p:cNvPr>
          <p:cNvSpPr txBox="1"/>
          <p:nvPr/>
        </p:nvSpPr>
        <p:spPr>
          <a:xfrm>
            <a:off x="6210555" y="1017863"/>
            <a:ext cx="309946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400" b="1" dirty="0"/>
              <a:t>ԽՏԱՑՄԱՆ ՄԵԹՈԴԻ ՏԵՍԱԿԱՆ ՀԻՄՔԵՐԸ</a:t>
            </a:r>
            <a:endParaRPr lang="ru-RU" sz="4400" dirty="0">
              <a:solidFill>
                <a:schemeClr val="accent4">
                  <a:lumMod val="40000"/>
                  <a:lumOff val="60000"/>
                </a:schemeClr>
              </a:solidFill>
              <a:latin typeface="Sylfae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A14EF5-3C9A-3F23-C812-125DAA429501}"/>
              </a:ext>
            </a:extLst>
          </p:cNvPr>
          <p:cNvSpPr txBox="1"/>
          <p:nvPr/>
        </p:nvSpPr>
        <p:spPr>
          <a:xfrm>
            <a:off x="0" y="0"/>
            <a:ext cx="6230362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AM" sz="2400" dirty="0"/>
              <a:t>Այս լաբիրինթոսից դուրս գալու համար աշխատանքում առաջարկվում և հիմնավորվում է </a:t>
            </a:r>
            <a:r>
              <a:rPr lang="ru-AM" sz="2400" b="1" dirty="0"/>
              <a:t>խտացման մեթոդը</a:t>
            </a:r>
            <a:r>
              <a:rPr lang="ru-AM" sz="2400" dirty="0"/>
              <a:t>։ Դրա հիմնական նպատակն է բազմաչափ վեկտորային նկարագրությունը փոխարինել սահմանափակ թվով միաչափ սկալյար փոփոխականներով։</a:t>
            </a:r>
          </a:p>
          <a:p>
            <a:r>
              <a:rPr lang="ru-AM" sz="2400" dirty="0"/>
              <a:t>      Տեսության հիմքում ընկած է հետևյալ մոտեցումը. Դիտարկվում է հիմնական գործընթացը (), որը բազմությունը ձևափոխում է -ի։ Սրան զուգահեռ ներմուծում ենք հիպոթետիկ </a:t>
            </a:r>
            <a:r>
              <a:rPr lang="ru-AM" sz="2400" b="1" dirty="0"/>
              <a:t>«հակահամակարգ»</a:t>
            </a:r>
            <a:r>
              <a:rPr lang="ru-AM" sz="2400" dirty="0"/>
              <a:t> (), որն իրականացնում է նույն ձևափոխությունները, բայց հակառակ ուղղությամբ։ Այս երկու համակարգերի միավորումը սկալյար արտադրյալի տեսքով թույլ է տալիս ստանալ խտացված փոփոխականներ ։</a:t>
            </a:r>
          </a:p>
          <a:p>
            <a:pPr marL="457200" indent="-457200">
              <a:buFont typeface="Arial" pitchFamily="34" charset="0"/>
              <a:buChar char="•"/>
            </a:pPr>
            <a:endParaRPr lang="ru-RU" sz="1400" dirty="0">
              <a:solidFill>
                <a:schemeClr val="tx2">
                  <a:lumMod val="75000"/>
                </a:schemeClr>
              </a:solidFill>
            </a:endParaRPr>
          </a:p>
          <a:p>
            <a:pPr marL="457200" indent="-457200"/>
            <a:endParaRPr lang="ru-RU" sz="1400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236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23E2DC4-4C91-B4FC-DCDD-E3901D847CCF}"/>
              </a:ext>
            </a:extLst>
          </p:cNvPr>
          <p:cNvSpPr/>
          <p:nvPr/>
        </p:nvSpPr>
        <p:spPr>
          <a:xfrm>
            <a:off x="6688393" y="-2"/>
            <a:ext cx="2455607" cy="68580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52A5A5-1AAD-4B80-1EB2-A0CA7584E873}"/>
              </a:ext>
            </a:extLst>
          </p:cNvPr>
          <p:cNvSpPr/>
          <p:nvPr/>
        </p:nvSpPr>
        <p:spPr>
          <a:xfrm>
            <a:off x="4171950" y="-2"/>
            <a:ext cx="2516444" cy="68580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pic>
        <p:nvPicPr>
          <p:cNvPr id="4" name="그림 개체 틀 3">
            <a:extLst>
              <a:ext uri="{FF2B5EF4-FFF2-40B4-BE49-F238E27FC236}">
                <a16:creationId xmlns:a16="http://schemas.microsoft.com/office/drawing/2014/main" id="{1BAD1928-44B7-A30E-2459-4C3B2D661E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/>
          <a:srcRect t="6114" b="6114"/>
          <a:stretch>
            <a:fillRect/>
          </a:stretch>
        </p:blipFill>
        <p:spPr/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FE3DA74-5276-FBFE-0125-15C9B0BCA545}"/>
              </a:ext>
            </a:extLst>
          </p:cNvPr>
          <p:cNvGrpSpPr/>
          <p:nvPr/>
        </p:nvGrpSpPr>
        <p:grpSpPr>
          <a:xfrm>
            <a:off x="6620406" y="3685632"/>
            <a:ext cx="1541988" cy="2057221"/>
            <a:chOff x="10454594" y="3233348"/>
            <a:chExt cx="1010861" cy="1011469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2E86F8DC-7597-5951-5CCF-BE04F1449B1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233653"/>
              <a:ext cx="505735" cy="505126"/>
            </a:xfrm>
            <a:custGeom>
              <a:avLst/>
              <a:gdLst>
                <a:gd name="T0" fmla="*/ 0 w 2680"/>
                <a:gd name="T1" fmla="*/ 2089 h 2680"/>
                <a:gd name="T2" fmla="*/ 0 w 2680"/>
                <a:gd name="T3" fmla="*/ 2680 h 2680"/>
                <a:gd name="T4" fmla="*/ 2680 w 2680"/>
                <a:gd name="T5" fmla="*/ 0 h 2680"/>
                <a:gd name="T6" fmla="*/ 2089 w 2680"/>
                <a:gd name="T7" fmla="*/ 0 h 2680"/>
                <a:gd name="T8" fmla="*/ 0 w 2680"/>
                <a:gd name="T9" fmla="*/ 2089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0">
                  <a:moveTo>
                    <a:pt x="0" y="2089"/>
                  </a:moveTo>
                  <a:lnTo>
                    <a:pt x="0" y="2680"/>
                  </a:lnTo>
                  <a:cubicBezTo>
                    <a:pt x="1480" y="2680"/>
                    <a:pt x="2680" y="1480"/>
                    <a:pt x="2680" y="0"/>
                  </a:cubicBezTo>
                  <a:lnTo>
                    <a:pt x="2089" y="0"/>
                  </a:lnTo>
                  <a:cubicBezTo>
                    <a:pt x="2089" y="1154"/>
                    <a:pt x="1154" y="2089"/>
                    <a:pt x="0" y="208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1BDDCDED-949F-3165-CAED-568562191F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739387"/>
              <a:ext cx="505735" cy="505126"/>
            </a:xfrm>
            <a:custGeom>
              <a:avLst/>
              <a:gdLst>
                <a:gd name="T0" fmla="*/ 2681 w 2681"/>
                <a:gd name="T1" fmla="*/ 2680 h 2680"/>
                <a:gd name="T2" fmla="*/ 2681 w 2681"/>
                <a:gd name="T3" fmla="*/ 2089 h 2680"/>
                <a:gd name="T4" fmla="*/ 591 w 2681"/>
                <a:gd name="T5" fmla="*/ 0 h 2680"/>
                <a:gd name="T6" fmla="*/ 0 w 2681"/>
                <a:gd name="T7" fmla="*/ 0 h 2680"/>
                <a:gd name="T8" fmla="*/ 2681 w 2681"/>
                <a:gd name="T9" fmla="*/ 268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1" h="2680">
                  <a:moveTo>
                    <a:pt x="2681" y="2680"/>
                  </a:moveTo>
                  <a:lnTo>
                    <a:pt x="2681" y="2089"/>
                  </a:lnTo>
                  <a:cubicBezTo>
                    <a:pt x="1527" y="2089"/>
                    <a:pt x="591" y="1154"/>
                    <a:pt x="591" y="0"/>
                  </a:cubicBezTo>
                  <a:lnTo>
                    <a:pt x="0" y="0"/>
                  </a:lnTo>
                  <a:cubicBezTo>
                    <a:pt x="0" y="1480"/>
                    <a:pt x="1200" y="2680"/>
                    <a:pt x="2681" y="268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E4954A68-F806-846A-E403-946A51A4A32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54594" y="3233348"/>
              <a:ext cx="505735" cy="505735"/>
            </a:xfrm>
            <a:custGeom>
              <a:avLst/>
              <a:gdLst>
                <a:gd name="T0" fmla="*/ 0 w 2680"/>
                <a:gd name="T1" fmla="*/ 0 h 2681"/>
                <a:gd name="T2" fmla="*/ 0 w 2680"/>
                <a:gd name="T3" fmla="*/ 592 h 2681"/>
                <a:gd name="T4" fmla="*/ 2089 w 2680"/>
                <a:gd name="T5" fmla="*/ 2681 h 2681"/>
                <a:gd name="T6" fmla="*/ 2680 w 2680"/>
                <a:gd name="T7" fmla="*/ 2681 h 2681"/>
                <a:gd name="T8" fmla="*/ 0 w 2680"/>
                <a:gd name="T9" fmla="*/ 0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1">
                  <a:moveTo>
                    <a:pt x="0" y="0"/>
                  </a:moveTo>
                  <a:lnTo>
                    <a:pt x="0" y="592"/>
                  </a:lnTo>
                  <a:cubicBezTo>
                    <a:pt x="1154" y="592"/>
                    <a:pt x="2089" y="1527"/>
                    <a:pt x="2089" y="2681"/>
                  </a:cubicBezTo>
                  <a:lnTo>
                    <a:pt x="2680" y="2681"/>
                  </a:lnTo>
                  <a:cubicBezTo>
                    <a:pt x="2680" y="1200"/>
                    <a:pt x="148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5D8BD2E-D9E0-A9DB-95C7-57AEE586E98A}"/>
              </a:ext>
            </a:extLst>
          </p:cNvPr>
          <p:cNvGrpSpPr/>
          <p:nvPr/>
        </p:nvGrpSpPr>
        <p:grpSpPr>
          <a:xfrm rot="10800000">
            <a:off x="8361131" y="690702"/>
            <a:ext cx="275966" cy="1088936"/>
            <a:chOff x="10673553" y="2347274"/>
            <a:chExt cx="403152" cy="1193100"/>
          </a:xfrm>
          <a:solidFill>
            <a:schemeClr val="accent4">
              <a:lumMod val="75000"/>
            </a:schemeClr>
          </a:solidFill>
        </p:grpSpPr>
        <p:sp>
          <p:nvSpPr>
            <p:cNvPr id="10" name="Oval 100">
              <a:extLst>
                <a:ext uri="{FF2B5EF4-FFF2-40B4-BE49-F238E27FC236}">
                  <a16:creationId xmlns:a16="http://schemas.microsoft.com/office/drawing/2014/main" id="{62F43B8E-1F40-93F3-8C1F-6C5C452C32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6276" y="3401451"/>
              <a:ext cx="136201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Oval 101">
              <a:extLst>
                <a:ext uri="{FF2B5EF4-FFF2-40B4-BE49-F238E27FC236}">
                  <a16:creationId xmlns:a16="http://schemas.microsoft.com/office/drawing/2014/main" id="{21FB730C-A085-E8BE-9F7D-EB6F268C3A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313722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Oval 102">
              <a:extLst>
                <a:ext uri="{FF2B5EF4-FFF2-40B4-BE49-F238E27FC236}">
                  <a16:creationId xmlns:a16="http://schemas.microsoft.com/office/drawing/2014/main" id="{40ABE35E-D391-A5D5-A488-F319D3092B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875723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Oval 103">
              <a:extLst>
                <a:ext uri="{FF2B5EF4-FFF2-40B4-BE49-F238E27FC236}">
                  <a16:creationId xmlns:a16="http://schemas.microsoft.com/office/drawing/2014/main" id="{F55A2068-9DB0-C667-46A1-1A5943E7B4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608777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Oval 104">
              <a:extLst>
                <a:ext uri="{FF2B5EF4-FFF2-40B4-BE49-F238E27FC236}">
                  <a16:creationId xmlns:a16="http://schemas.microsoft.com/office/drawing/2014/main" id="{15CBB6E1-7650-0269-42A5-89E30592A1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34727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Oval 105">
              <a:extLst>
                <a:ext uri="{FF2B5EF4-FFF2-40B4-BE49-F238E27FC236}">
                  <a16:creationId xmlns:a16="http://schemas.microsoft.com/office/drawing/2014/main" id="{70830182-DA04-E111-A97B-35C8062ED2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40501" y="3404170"/>
              <a:ext cx="136201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Oval 106">
              <a:extLst>
                <a:ext uri="{FF2B5EF4-FFF2-40B4-BE49-F238E27FC236}">
                  <a16:creationId xmlns:a16="http://schemas.microsoft.com/office/drawing/2014/main" id="{4898DBB2-B1F3-FC31-CD7B-481169FD1F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3139948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Oval 107">
              <a:extLst>
                <a:ext uri="{FF2B5EF4-FFF2-40B4-BE49-F238E27FC236}">
                  <a16:creationId xmlns:a16="http://schemas.microsoft.com/office/drawing/2014/main" id="{6E109224-0E76-94EF-8093-6AA2760294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878447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Oval 108">
              <a:extLst>
                <a:ext uri="{FF2B5EF4-FFF2-40B4-BE49-F238E27FC236}">
                  <a16:creationId xmlns:a16="http://schemas.microsoft.com/office/drawing/2014/main" id="{C64C0DE9-77DC-FCF0-1A1F-444931C6E7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611501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Oval 109">
              <a:extLst>
                <a:ext uri="{FF2B5EF4-FFF2-40B4-BE49-F238E27FC236}">
                  <a16:creationId xmlns:a16="http://schemas.microsoft.com/office/drawing/2014/main" id="{D2580A21-545E-8C9E-9315-6169F7A592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350000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EA14EF5-3C9A-3F23-C812-125DAA429501}"/>
              </a:ext>
            </a:extLst>
          </p:cNvPr>
          <p:cNvSpPr txBox="1"/>
          <p:nvPr/>
        </p:nvSpPr>
        <p:spPr>
          <a:xfrm>
            <a:off x="0" y="34534"/>
            <a:ext cx="4286248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AM" sz="2800" dirty="0"/>
              <a:t>Տեսական դրույթները գործնականում ստուգելու համար օգտագործվել է համակարգի </a:t>
            </a:r>
            <a:r>
              <a:rPr lang="ru-AM" sz="2800" b="1" dirty="0"/>
              <a:t>«սև արկղի» (Black Box)</a:t>
            </a:r>
            <a:r>
              <a:rPr lang="ru-AM" sz="2800" dirty="0"/>
              <a:t> մոդելը, որն առաջարկել է ՈՒ.Ռ. Էշբին։ Այստեղ մենք չենք փորձում բացահայտել համակարգի բոլոր ներքին «գաղտնիքները», այլ կենտրոնանում ենք մուտքերի և ելքերի կապի վրա։</a:t>
            </a:r>
          </a:p>
          <a:p>
            <a:pPr marL="342900" indent="-342900"/>
            <a:endParaRPr lang="ru-RU" sz="2000" dirty="0">
              <a:solidFill>
                <a:schemeClr val="accent4">
                  <a:lumMod val="75000"/>
                </a:schemeClr>
              </a:solidFill>
              <a:latin typeface="Sylfae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236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95F5E-329A-2A02-7BEF-8B0A48121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CF892DB-BE92-59E4-83D0-6B311E523E6E}"/>
              </a:ext>
            </a:extLst>
          </p:cNvPr>
          <p:cNvSpPr/>
          <p:nvPr/>
        </p:nvSpPr>
        <p:spPr>
          <a:xfrm>
            <a:off x="6688393" y="-2"/>
            <a:ext cx="2455607" cy="68580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850896-0CEC-1F79-44DE-9F8F9DE6B411}"/>
              </a:ext>
            </a:extLst>
          </p:cNvPr>
          <p:cNvSpPr/>
          <p:nvPr/>
        </p:nvSpPr>
        <p:spPr>
          <a:xfrm>
            <a:off x="5639728" y="-2"/>
            <a:ext cx="1752136" cy="68580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90653E0-0BB6-8811-EAA6-627FF1914155}"/>
              </a:ext>
            </a:extLst>
          </p:cNvPr>
          <p:cNvGrpSpPr/>
          <p:nvPr/>
        </p:nvGrpSpPr>
        <p:grpSpPr>
          <a:xfrm>
            <a:off x="6620406" y="3685632"/>
            <a:ext cx="1541988" cy="2057221"/>
            <a:chOff x="10454594" y="3233348"/>
            <a:chExt cx="1010861" cy="1011469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418371A8-DFCB-5B45-D797-9798A2C5B88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233653"/>
              <a:ext cx="505735" cy="505126"/>
            </a:xfrm>
            <a:custGeom>
              <a:avLst/>
              <a:gdLst>
                <a:gd name="T0" fmla="*/ 0 w 2680"/>
                <a:gd name="T1" fmla="*/ 2089 h 2680"/>
                <a:gd name="T2" fmla="*/ 0 w 2680"/>
                <a:gd name="T3" fmla="*/ 2680 h 2680"/>
                <a:gd name="T4" fmla="*/ 2680 w 2680"/>
                <a:gd name="T5" fmla="*/ 0 h 2680"/>
                <a:gd name="T6" fmla="*/ 2089 w 2680"/>
                <a:gd name="T7" fmla="*/ 0 h 2680"/>
                <a:gd name="T8" fmla="*/ 0 w 2680"/>
                <a:gd name="T9" fmla="*/ 2089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0">
                  <a:moveTo>
                    <a:pt x="0" y="2089"/>
                  </a:moveTo>
                  <a:lnTo>
                    <a:pt x="0" y="2680"/>
                  </a:lnTo>
                  <a:cubicBezTo>
                    <a:pt x="1480" y="2680"/>
                    <a:pt x="2680" y="1480"/>
                    <a:pt x="2680" y="0"/>
                  </a:cubicBezTo>
                  <a:lnTo>
                    <a:pt x="2089" y="0"/>
                  </a:lnTo>
                  <a:cubicBezTo>
                    <a:pt x="2089" y="1154"/>
                    <a:pt x="1154" y="2089"/>
                    <a:pt x="0" y="208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7D112AAE-B5A0-62AB-902F-FB9F32AD29C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739387"/>
              <a:ext cx="505735" cy="505126"/>
            </a:xfrm>
            <a:custGeom>
              <a:avLst/>
              <a:gdLst>
                <a:gd name="T0" fmla="*/ 2681 w 2681"/>
                <a:gd name="T1" fmla="*/ 2680 h 2680"/>
                <a:gd name="T2" fmla="*/ 2681 w 2681"/>
                <a:gd name="T3" fmla="*/ 2089 h 2680"/>
                <a:gd name="T4" fmla="*/ 591 w 2681"/>
                <a:gd name="T5" fmla="*/ 0 h 2680"/>
                <a:gd name="T6" fmla="*/ 0 w 2681"/>
                <a:gd name="T7" fmla="*/ 0 h 2680"/>
                <a:gd name="T8" fmla="*/ 2681 w 2681"/>
                <a:gd name="T9" fmla="*/ 268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1" h="2680">
                  <a:moveTo>
                    <a:pt x="2681" y="2680"/>
                  </a:moveTo>
                  <a:lnTo>
                    <a:pt x="2681" y="2089"/>
                  </a:lnTo>
                  <a:cubicBezTo>
                    <a:pt x="1527" y="2089"/>
                    <a:pt x="591" y="1154"/>
                    <a:pt x="591" y="0"/>
                  </a:cubicBezTo>
                  <a:lnTo>
                    <a:pt x="0" y="0"/>
                  </a:lnTo>
                  <a:cubicBezTo>
                    <a:pt x="0" y="1480"/>
                    <a:pt x="1200" y="2680"/>
                    <a:pt x="2681" y="268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FAC5B41B-3A4B-40C2-4564-35CDC9CAA76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54594" y="3233348"/>
              <a:ext cx="505735" cy="505735"/>
            </a:xfrm>
            <a:custGeom>
              <a:avLst/>
              <a:gdLst>
                <a:gd name="T0" fmla="*/ 0 w 2680"/>
                <a:gd name="T1" fmla="*/ 0 h 2681"/>
                <a:gd name="T2" fmla="*/ 0 w 2680"/>
                <a:gd name="T3" fmla="*/ 592 h 2681"/>
                <a:gd name="T4" fmla="*/ 2089 w 2680"/>
                <a:gd name="T5" fmla="*/ 2681 h 2681"/>
                <a:gd name="T6" fmla="*/ 2680 w 2680"/>
                <a:gd name="T7" fmla="*/ 2681 h 2681"/>
                <a:gd name="T8" fmla="*/ 0 w 2680"/>
                <a:gd name="T9" fmla="*/ 0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1">
                  <a:moveTo>
                    <a:pt x="0" y="0"/>
                  </a:moveTo>
                  <a:lnTo>
                    <a:pt x="0" y="592"/>
                  </a:lnTo>
                  <a:cubicBezTo>
                    <a:pt x="1154" y="592"/>
                    <a:pt x="2089" y="1527"/>
                    <a:pt x="2089" y="2681"/>
                  </a:cubicBezTo>
                  <a:lnTo>
                    <a:pt x="2680" y="2681"/>
                  </a:lnTo>
                  <a:cubicBezTo>
                    <a:pt x="2680" y="1200"/>
                    <a:pt x="148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DD4C4AB-3376-AD87-D5F3-B110D97AE5B3}"/>
              </a:ext>
            </a:extLst>
          </p:cNvPr>
          <p:cNvGrpSpPr/>
          <p:nvPr/>
        </p:nvGrpSpPr>
        <p:grpSpPr>
          <a:xfrm rot="10800000">
            <a:off x="8361131" y="690702"/>
            <a:ext cx="275966" cy="1088936"/>
            <a:chOff x="10673553" y="2347274"/>
            <a:chExt cx="403152" cy="1193100"/>
          </a:xfrm>
          <a:solidFill>
            <a:schemeClr val="accent4">
              <a:lumMod val="75000"/>
            </a:schemeClr>
          </a:solidFill>
        </p:grpSpPr>
        <p:sp>
          <p:nvSpPr>
            <p:cNvPr id="10" name="Oval 100">
              <a:extLst>
                <a:ext uri="{FF2B5EF4-FFF2-40B4-BE49-F238E27FC236}">
                  <a16:creationId xmlns:a16="http://schemas.microsoft.com/office/drawing/2014/main" id="{A7E8D3C6-C7CD-45B4-632C-667BC119FE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6276" y="3401451"/>
              <a:ext cx="136201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Oval 101">
              <a:extLst>
                <a:ext uri="{FF2B5EF4-FFF2-40B4-BE49-F238E27FC236}">
                  <a16:creationId xmlns:a16="http://schemas.microsoft.com/office/drawing/2014/main" id="{5CAF1BE4-A613-3855-352A-9F0AE41DB9D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313722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Oval 102">
              <a:extLst>
                <a:ext uri="{FF2B5EF4-FFF2-40B4-BE49-F238E27FC236}">
                  <a16:creationId xmlns:a16="http://schemas.microsoft.com/office/drawing/2014/main" id="{36384664-9E62-D0DD-B59B-A8FBA9B992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875723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Oval 103">
              <a:extLst>
                <a:ext uri="{FF2B5EF4-FFF2-40B4-BE49-F238E27FC236}">
                  <a16:creationId xmlns:a16="http://schemas.microsoft.com/office/drawing/2014/main" id="{B805E3A8-0AAD-18BF-D42A-29A50AD187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608777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Oval 104">
              <a:extLst>
                <a:ext uri="{FF2B5EF4-FFF2-40B4-BE49-F238E27FC236}">
                  <a16:creationId xmlns:a16="http://schemas.microsoft.com/office/drawing/2014/main" id="{091B1195-1B7C-91A4-D352-1083F84FF4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34727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Oval 105">
              <a:extLst>
                <a:ext uri="{FF2B5EF4-FFF2-40B4-BE49-F238E27FC236}">
                  <a16:creationId xmlns:a16="http://schemas.microsoft.com/office/drawing/2014/main" id="{A07FFA58-76E7-66EC-2694-A373229E6F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40501" y="3404170"/>
              <a:ext cx="136201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Oval 106">
              <a:extLst>
                <a:ext uri="{FF2B5EF4-FFF2-40B4-BE49-F238E27FC236}">
                  <a16:creationId xmlns:a16="http://schemas.microsoft.com/office/drawing/2014/main" id="{8EAFC176-9D61-7DB7-1556-116D8DCF2D1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3139948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Oval 107">
              <a:extLst>
                <a:ext uri="{FF2B5EF4-FFF2-40B4-BE49-F238E27FC236}">
                  <a16:creationId xmlns:a16="http://schemas.microsoft.com/office/drawing/2014/main" id="{D8E298BA-78AC-3C69-0A2C-D04C5F1253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878447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Oval 108">
              <a:extLst>
                <a:ext uri="{FF2B5EF4-FFF2-40B4-BE49-F238E27FC236}">
                  <a16:creationId xmlns:a16="http://schemas.microsoft.com/office/drawing/2014/main" id="{3CC6E421-9C58-D00E-E866-0B65839F6A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611501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Oval 109">
              <a:extLst>
                <a:ext uri="{FF2B5EF4-FFF2-40B4-BE49-F238E27FC236}">
                  <a16:creationId xmlns:a16="http://schemas.microsoft.com/office/drawing/2014/main" id="{241D7EB8-8D8B-B161-8246-1980F1B9816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350000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234A1EB-F967-72B9-ECA9-19D4C550AE2F}"/>
              </a:ext>
            </a:extLst>
          </p:cNvPr>
          <p:cNvSpPr txBox="1"/>
          <p:nvPr/>
        </p:nvSpPr>
        <p:spPr>
          <a:xfrm>
            <a:off x="0" y="34534"/>
            <a:ext cx="5553954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AM" sz="2400" dirty="0"/>
              <a:t>Աշխատանքի շրջանակներում մշակվել է ծրագրային գործիք </a:t>
            </a:r>
            <a:r>
              <a:rPr lang="ru-AM" sz="2400" b="1" dirty="0"/>
              <a:t>C++ լեզվով</a:t>
            </a:r>
            <a:r>
              <a:rPr lang="ru-AM" sz="2400" dirty="0"/>
              <a:t>։ Ընտրությունը պատահական չէ. C++-ն ապահովում է բարձր արագագործություն և հիշողության արդյունավետ կառավարում, ինչը կենսական է հազարավոր փոփոխականներով համակարգերի համար։</a:t>
            </a:r>
          </a:p>
          <a:p>
            <a:r>
              <a:rPr lang="ru-AM" sz="2400" dirty="0"/>
              <a:t>Ծրագրի ալգորիթմի հիմքում ընկած է </a:t>
            </a:r>
            <a:r>
              <a:rPr lang="ru-AM" sz="2400" b="1" dirty="0"/>
              <a:t>դինամիկ ծրագրավորման մեթոդը</a:t>
            </a:r>
            <a:r>
              <a:rPr lang="ru-AM" sz="2400" dirty="0"/>
              <a:t>։ Այն թույլ է տալիս բարդ խնդիրը բաժանել փոքր ենթախնդիրների և լուծումները պահել հատուկ աղյուսակներում (dp վեկտոր)՝ խուսափելով կրկնվող հաշվարկներից։ Սա տասնապատիկ արագացնում է լուծման գործընթացը նույնիսկ մեծ տվյալների դեպքում։</a:t>
            </a:r>
          </a:p>
          <a:p>
            <a:pPr marL="342900" indent="-342900"/>
            <a:endParaRPr lang="ru-RU" sz="2000" dirty="0">
              <a:solidFill>
                <a:schemeClr val="accent4">
                  <a:lumMod val="75000"/>
                </a:schemeClr>
              </a:solidFill>
              <a:latin typeface="Sylfae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35A46A-037A-5465-3B00-E1A69647ADA0}"/>
              </a:ext>
            </a:extLst>
          </p:cNvPr>
          <p:cNvSpPr txBox="1"/>
          <p:nvPr/>
        </p:nvSpPr>
        <p:spPr>
          <a:xfrm>
            <a:off x="5617658" y="1923032"/>
            <a:ext cx="34293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dirty="0">
                <a:solidFill>
                  <a:schemeClr val="bg1"/>
                </a:solidFill>
              </a:rPr>
              <a:t>ԾՐԱԳՐԱՅԻՆ ԻՐԱԿԱՆԱՑՈՒՄ</a:t>
            </a:r>
            <a:endParaRPr lang="ru-AM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43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6CBA7-9423-2523-A7BC-113693EF1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16EF326-DC82-52A7-718E-6E2D86DC43E2}"/>
              </a:ext>
            </a:extLst>
          </p:cNvPr>
          <p:cNvSpPr/>
          <p:nvPr/>
        </p:nvSpPr>
        <p:spPr>
          <a:xfrm>
            <a:off x="6688393" y="555696"/>
            <a:ext cx="2455607" cy="630230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9CDFD63-BE8A-5060-E526-31985366A608}"/>
              </a:ext>
            </a:extLst>
          </p:cNvPr>
          <p:cNvSpPr/>
          <p:nvPr/>
        </p:nvSpPr>
        <p:spPr>
          <a:xfrm>
            <a:off x="6580890" y="555696"/>
            <a:ext cx="770531" cy="630230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0B6DC3F-494A-1E1D-7C18-82C25456A075}"/>
              </a:ext>
            </a:extLst>
          </p:cNvPr>
          <p:cNvGrpSpPr/>
          <p:nvPr/>
        </p:nvGrpSpPr>
        <p:grpSpPr>
          <a:xfrm>
            <a:off x="6688397" y="3685632"/>
            <a:ext cx="1474002" cy="2057221"/>
            <a:chOff x="10499163" y="3233348"/>
            <a:chExt cx="966292" cy="1011469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CE5968B9-A6EB-9C76-0CC1-601C49D3DED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233653"/>
              <a:ext cx="505735" cy="505126"/>
            </a:xfrm>
            <a:custGeom>
              <a:avLst/>
              <a:gdLst>
                <a:gd name="T0" fmla="*/ 0 w 2680"/>
                <a:gd name="T1" fmla="*/ 2089 h 2680"/>
                <a:gd name="T2" fmla="*/ 0 w 2680"/>
                <a:gd name="T3" fmla="*/ 2680 h 2680"/>
                <a:gd name="T4" fmla="*/ 2680 w 2680"/>
                <a:gd name="T5" fmla="*/ 0 h 2680"/>
                <a:gd name="T6" fmla="*/ 2089 w 2680"/>
                <a:gd name="T7" fmla="*/ 0 h 2680"/>
                <a:gd name="T8" fmla="*/ 0 w 2680"/>
                <a:gd name="T9" fmla="*/ 2089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0">
                  <a:moveTo>
                    <a:pt x="0" y="2089"/>
                  </a:moveTo>
                  <a:lnTo>
                    <a:pt x="0" y="2680"/>
                  </a:lnTo>
                  <a:cubicBezTo>
                    <a:pt x="1480" y="2680"/>
                    <a:pt x="2680" y="1480"/>
                    <a:pt x="2680" y="0"/>
                  </a:cubicBezTo>
                  <a:lnTo>
                    <a:pt x="2089" y="0"/>
                  </a:lnTo>
                  <a:cubicBezTo>
                    <a:pt x="2089" y="1154"/>
                    <a:pt x="1154" y="2089"/>
                    <a:pt x="0" y="208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BC8DFA3A-4584-A831-D0D6-BB207E295ED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739387"/>
              <a:ext cx="505735" cy="505126"/>
            </a:xfrm>
            <a:custGeom>
              <a:avLst/>
              <a:gdLst>
                <a:gd name="T0" fmla="*/ 2681 w 2681"/>
                <a:gd name="T1" fmla="*/ 2680 h 2680"/>
                <a:gd name="T2" fmla="*/ 2681 w 2681"/>
                <a:gd name="T3" fmla="*/ 2089 h 2680"/>
                <a:gd name="T4" fmla="*/ 591 w 2681"/>
                <a:gd name="T5" fmla="*/ 0 h 2680"/>
                <a:gd name="T6" fmla="*/ 0 w 2681"/>
                <a:gd name="T7" fmla="*/ 0 h 2680"/>
                <a:gd name="T8" fmla="*/ 2681 w 2681"/>
                <a:gd name="T9" fmla="*/ 268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1" h="2680">
                  <a:moveTo>
                    <a:pt x="2681" y="2680"/>
                  </a:moveTo>
                  <a:lnTo>
                    <a:pt x="2681" y="2089"/>
                  </a:lnTo>
                  <a:cubicBezTo>
                    <a:pt x="1527" y="2089"/>
                    <a:pt x="591" y="1154"/>
                    <a:pt x="591" y="0"/>
                  </a:cubicBezTo>
                  <a:lnTo>
                    <a:pt x="0" y="0"/>
                  </a:lnTo>
                  <a:cubicBezTo>
                    <a:pt x="0" y="1480"/>
                    <a:pt x="1200" y="2680"/>
                    <a:pt x="2681" y="268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75B5D96C-BBEF-D4AD-85C6-DDF376E648D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76878" y="3255633"/>
              <a:ext cx="505735" cy="461165"/>
            </a:xfrm>
            <a:custGeom>
              <a:avLst/>
              <a:gdLst>
                <a:gd name="T0" fmla="*/ 0 w 2680"/>
                <a:gd name="T1" fmla="*/ 0 h 2681"/>
                <a:gd name="T2" fmla="*/ 0 w 2680"/>
                <a:gd name="T3" fmla="*/ 592 h 2681"/>
                <a:gd name="T4" fmla="*/ 2089 w 2680"/>
                <a:gd name="T5" fmla="*/ 2681 h 2681"/>
                <a:gd name="T6" fmla="*/ 2680 w 2680"/>
                <a:gd name="T7" fmla="*/ 2681 h 2681"/>
                <a:gd name="T8" fmla="*/ 0 w 2680"/>
                <a:gd name="T9" fmla="*/ 0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1">
                  <a:moveTo>
                    <a:pt x="0" y="0"/>
                  </a:moveTo>
                  <a:lnTo>
                    <a:pt x="0" y="592"/>
                  </a:lnTo>
                  <a:cubicBezTo>
                    <a:pt x="1154" y="592"/>
                    <a:pt x="2089" y="1527"/>
                    <a:pt x="2089" y="2681"/>
                  </a:cubicBezTo>
                  <a:lnTo>
                    <a:pt x="2680" y="2681"/>
                  </a:lnTo>
                  <a:cubicBezTo>
                    <a:pt x="2680" y="1200"/>
                    <a:pt x="148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A170BB3-B9CF-C662-B596-81D18022A70B}"/>
              </a:ext>
            </a:extLst>
          </p:cNvPr>
          <p:cNvGrpSpPr/>
          <p:nvPr/>
        </p:nvGrpSpPr>
        <p:grpSpPr>
          <a:xfrm rot="10800000">
            <a:off x="8361131" y="690702"/>
            <a:ext cx="275966" cy="1088936"/>
            <a:chOff x="10673553" y="2347274"/>
            <a:chExt cx="403152" cy="1193100"/>
          </a:xfrm>
          <a:solidFill>
            <a:schemeClr val="accent4">
              <a:lumMod val="75000"/>
            </a:schemeClr>
          </a:solidFill>
        </p:grpSpPr>
        <p:sp>
          <p:nvSpPr>
            <p:cNvPr id="10" name="Oval 100">
              <a:extLst>
                <a:ext uri="{FF2B5EF4-FFF2-40B4-BE49-F238E27FC236}">
                  <a16:creationId xmlns:a16="http://schemas.microsoft.com/office/drawing/2014/main" id="{F33E74E4-8D6E-0EFA-B053-E65D316384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6276" y="3401451"/>
              <a:ext cx="136201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Oval 101">
              <a:extLst>
                <a:ext uri="{FF2B5EF4-FFF2-40B4-BE49-F238E27FC236}">
                  <a16:creationId xmlns:a16="http://schemas.microsoft.com/office/drawing/2014/main" id="{8FFF0769-075A-60F5-24F0-1133AA6123F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313722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Oval 102">
              <a:extLst>
                <a:ext uri="{FF2B5EF4-FFF2-40B4-BE49-F238E27FC236}">
                  <a16:creationId xmlns:a16="http://schemas.microsoft.com/office/drawing/2014/main" id="{744D5A5D-9D9F-4E1F-F540-A551AB9E78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875723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Oval 103">
              <a:extLst>
                <a:ext uri="{FF2B5EF4-FFF2-40B4-BE49-F238E27FC236}">
                  <a16:creationId xmlns:a16="http://schemas.microsoft.com/office/drawing/2014/main" id="{4AF34376-4998-C8AD-5746-78B39ADA38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608777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Oval 104">
              <a:extLst>
                <a:ext uri="{FF2B5EF4-FFF2-40B4-BE49-F238E27FC236}">
                  <a16:creationId xmlns:a16="http://schemas.microsoft.com/office/drawing/2014/main" id="{BC9CB688-F353-2EFF-53B8-9EAB3D7F9A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34727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Oval 105">
              <a:extLst>
                <a:ext uri="{FF2B5EF4-FFF2-40B4-BE49-F238E27FC236}">
                  <a16:creationId xmlns:a16="http://schemas.microsoft.com/office/drawing/2014/main" id="{87D68E0F-D6E3-1523-E652-AD0329F170C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40501" y="3404170"/>
              <a:ext cx="136201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Oval 106">
              <a:extLst>
                <a:ext uri="{FF2B5EF4-FFF2-40B4-BE49-F238E27FC236}">
                  <a16:creationId xmlns:a16="http://schemas.microsoft.com/office/drawing/2014/main" id="{0F391673-696A-23EC-60D0-BE3A0FCD1E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3139948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Oval 107">
              <a:extLst>
                <a:ext uri="{FF2B5EF4-FFF2-40B4-BE49-F238E27FC236}">
                  <a16:creationId xmlns:a16="http://schemas.microsoft.com/office/drawing/2014/main" id="{FAD9C382-D4AD-77E5-3EE4-C59B69F789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878447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Oval 108">
              <a:extLst>
                <a:ext uri="{FF2B5EF4-FFF2-40B4-BE49-F238E27FC236}">
                  <a16:creationId xmlns:a16="http://schemas.microsoft.com/office/drawing/2014/main" id="{E34C9CD8-CA46-8BE5-05D4-FC83EA8F16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611501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Oval 109">
              <a:extLst>
                <a:ext uri="{FF2B5EF4-FFF2-40B4-BE49-F238E27FC236}">
                  <a16:creationId xmlns:a16="http://schemas.microsoft.com/office/drawing/2014/main" id="{3BBF47DC-8B29-0AF4-DF26-E36F790C343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350000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E5A88FF-540A-C246-E370-324C46FE73F3}"/>
              </a:ext>
            </a:extLst>
          </p:cNvPr>
          <p:cNvSpPr txBox="1"/>
          <p:nvPr/>
        </p:nvSpPr>
        <p:spPr>
          <a:xfrm>
            <a:off x="0" y="34534"/>
            <a:ext cx="6495116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itchFamily="2" charset="2"/>
              <a:buChar char="v"/>
            </a:pPr>
            <a:r>
              <a:rPr lang="ru-AM" sz="2400" b="1" dirty="0"/>
              <a:t>Խելացի շենքեր.</a:t>
            </a:r>
            <a:r>
              <a:rPr lang="ru-AM" sz="2400" dirty="0"/>
              <a:t> Տասնյակ սենյակների ջերմաստիճանային տվյալները խտացվել են մեկ «հարմարավետության» ցուցանիշի մեջ։ Սա թույլ է տվել էներգիայի նվազագույն ծախսով ապահովել օպտիմալ ջերմաստիճան։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AM" sz="2400" b="1" dirty="0"/>
              <a:t>Ռոբոտատեխնիկա.</a:t>
            </a:r>
            <a:r>
              <a:rPr lang="ru-AM" sz="2400" dirty="0"/>
              <a:t> Բազմահոդ ռոբոտների կառավարումը դարձել է ավելի պարզ՝ կենտրոնանալով վերջնակետի դիրքի վրա՝ առանց յուրաքանչյուր հոդի առանձին վերլուծության։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AM" sz="2400" b="1" dirty="0"/>
              <a:t>Արտադրական գծեր.</a:t>
            </a:r>
            <a:r>
              <a:rPr lang="ru-AM" sz="2400" dirty="0"/>
              <a:t> Բազմաթիվ մեքենաների աշխատանքի արդյունավետությունը գնահատվել է մեկ համակցված ցուցանիշով, ինչը նվազեցրել է կորուստները և բարձրացրել ընդհանուր արտադրողականությունը։</a:t>
            </a:r>
          </a:p>
          <a:p>
            <a:pPr marL="342900" indent="-342900"/>
            <a:endParaRPr lang="ru-RU" sz="2000" dirty="0">
              <a:solidFill>
                <a:schemeClr val="accent4">
                  <a:lumMod val="75000"/>
                </a:schemeClr>
              </a:solidFill>
              <a:latin typeface="Sylfae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00E988-DC92-3CA4-5A33-A1B36912868C}"/>
              </a:ext>
            </a:extLst>
          </p:cNvPr>
          <p:cNvSpPr txBox="1"/>
          <p:nvPr/>
        </p:nvSpPr>
        <p:spPr>
          <a:xfrm>
            <a:off x="6580890" y="94032"/>
            <a:ext cx="2563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400" dirty="0">
                <a:solidFill>
                  <a:schemeClr val="tx2"/>
                </a:solidFill>
              </a:rPr>
              <a:t>ԱՐԴՅՈՒՆՔՆԵՐ</a:t>
            </a:r>
            <a:endParaRPr lang="ru-AM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09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B1944-20B0-2E43-E275-11DB3C118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43810CC2-97F7-32B6-1D5E-A039F894C2B9}"/>
              </a:ext>
            </a:extLst>
          </p:cNvPr>
          <p:cNvSpPr/>
          <p:nvPr/>
        </p:nvSpPr>
        <p:spPr>
          <a:xfrm>
            <a:off x="2168134" y="-2"/>
            <a:ext cx="1591409" cy="68580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107CC0-5E62-07B7-FFD3-ADBB960CB8BB}"/>
              </a:ext>
            </a:extLst>
          </p:cNvPr>
          <p:cNvSpPr/>
          <p:nvPr/>
        </p:nvSpPr>
        <p:spPr>
          <a:xfrm>
            <a:off x="1" y="0"/>
            <a:ext cx="2168132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pic>
        <p:nvPicPr>
          <p:cNvPr id="6" name="그림 개체 틀 5">
            <a:extLst>
              <a:ext uri="{FF2B5EF4-FFF2-40B4-BE49-F238E27FC236}">
                <a16:creationId xmlns:a16="http://schemas.microsoft.com/office/drawing/2014/main" id="{6AF5280C-B3A1-E7E7-06EC-D1F5AF5A3E2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/>
          <a:srcRect t="1511" b="1511"/>
          <a:stretch>
            <a:fillRect/>
          </a:stretch>
        </p:blipFill>
        <p:spPr>
          <a:xfrm>
            <a:off x="773275" y="0"/>
            <a:ext cx="2986268" cy="5072074"/>
          </a:xfr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B3C83A7C-F7AD-81EB-73FC-398F2DB68B9A}"/>
              </a:ext>
            </a:extLst>
          </p:cNvPr>
          <p:cNvGrpSpPr/>
          <p:nvPr/>
        </p:nvGrpSpPr>
        <p:grpSpPr>
          <a:xfrm rot="5400000">
            <a:off x="-1713940" y="1799556"/>
            <a:ext cx="4090220" cy="491109"/>
            <a:chOff x="8019972" y="2038301"/>
            <a:chExt cx="2820808" cy="292483"/>
          </a:xfrm>
        </p:grpSpPr>
        <p:sp>
          <p:nvSpPr>
            <p:cNvPr id="4" name="Rectangle 309">
              <a:extLst>
                <a:ext uri="{FF2B5EF4-FFF2-40B4-BE49-F238E27FC236}">
                  <a16:creationId xmlns:a16="http://schemas.microsoft.com/office/drawing/2014/main" id="{DEBEFB25-E899-BD96-90E8-8202B8349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9972" y="2038301"/>
              <a:ext cx="2389881" cy="8556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5" name="Rectangle 310">
              <a:extLst>
                <a:ext uri="{FF2B5EF4-FFF2-40B4-BE49-F238E27FC236}">
                  <a16:creationId xmlns:a16="http://schemas.microsoft.com/office/drawing/2014/main" id="{F72AB017-A229-3D02-15D7-4E452B4E2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6374" y="2245217"/>
              <a:ext cx="1514406" cy="8556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FAEC1A3-659D-CF60-FA80-598F9366A143}"/>
              </a:ext>
            </a:extLst>
          </p:cNvPr>
          <p:cNvSpPr txBox="1"/>
          <p:nvPr/>
        </p:nvSpPr>
        <p:spPr>
          <a:xfrm>
            <a:off x="0" y="5984526"/>
            <a:ext cx="3854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hy-AM" altLang="en-US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14867" sx="102000" sy="102000" algn="ctr" rotWithShape="0">
                    <a:prstClr val="black">
                      <a:alpha val="82000"/>
                    </a:prstClr>
                  </a:outerShdw>
                </a:effectLst>
                <a:latin typeface="Sylfaen" pitchFamily="18" charset="0"/>
                <a:ea typeface="NEXON Lv2 Gothic Bold" pitchFamily="2" charset="-127"/>
              </a:rPr>
              <a:t>ԵԶՐԱԿԱՑՈՒԹՅՈՒՆ</a:t>
            </a:r>
            <a:endParaRPr kumimoji="1" lang="x-none" altLang="en-US" sz="2800" dirty="0">
              <a:solidFill>
                <a:schemeClr val="tx2">
                  <a:lumMod val="50000"/>
                </a:schemeClr>
              </a:solidFill>
              <a:effectLst>
                <a:outerShdw blurRad="314867" sx="102000" sy="102000" algn="ctr" rotWithShape="0">
                  <a:prstClr val="black">
                    <a:alpha val="82000"/>
                  </a:prstClr>
                </a:outerShdw>
              </a:effectLst>
              <a:latin typeface="Sylfaen" pitchFamily="18" charset="0"/>
              <a:ea typeface="NEXON Lv2 Gothic Bold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9D9A78-E21B-5D13-4B8E-98C0F8B71650}"/>
              </a:ext>
            </a:extLst>
          </p:cNvPr>
          <p:cNvSpPr txBox="1"/>
          <p:nvPr/>
        </p:nvSpPr>
        <p:spPr>
          <a:xfrm>
            <a:off x="3759542" y="0"/>
            <a:ext cx="548472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AM" sz="2400" dirty="0"/>
              <a:t>Ամփոփելով՝ կարող եմ նշել, որ հետազոտությունը հաստատեց խտացման մեթոդի բացառիկ արդյունավետությունը բարձր չափայնության խնդիրների լուծման հարցում։ Այն ոչ միայն տեսականորեն գեղեցիկ լուծում է, այլև գործնական հզոր գործիք, որն ապահովում է.</a:t>
            </a:r>
          </a:p>
          <a:p>
            <a:pPr marL="342900" lvl="0" indent="-342900">
              <a:buFont typeface="Wingdings" pitchFamily="2" charset="2"/>
              <a:buChar char="v"/>
            </a:pPr>
            <a:r>
              <a:rPr lang="ru-AM" sz="2400" dirty="0"/>
              <a:t>Հաշվարկային ռեսուրսների զգալի խնայողություն։</a:t>
            </a:r>
          </a:p>
          <a:p>
            <a:pPr marL="342900" lvl="0" indent="-342900">
              <a:buFont typeface="Wingdings" pitchFamily="2" charset="2"/>
              <a:buChar char="v"/>
            </a:pPr>
            <a:r>
              <a:rPr lang="ru-AM" sz="2400" dirty="0"/>
              <a:t>Կառավարման գործընթացի պարզեցում և թափանցիկություն։</a:t>
            </a:r>
          </a:p>
          <a:p>
            <a:pPr marL="342900" lvl="0" indent="-342900">
              <a:buFont typeface="Wingdings" pitchFamily="2" charset="2"/>
              <a:buChar char="v"/>
            </a:pPr>
            <a:r>
              <a:rPr lang="ru-AM" sz="2400" dirty="0"/>
              <a:t>Տեսական ճշգրտություն և արագագործություն։</a:t>
            </a:r>
          </a:p>
          <a:p>
            <a:r>
              <a:rPr lang="ru-AM" sz="2400" dirty="0"/>
              <a:t>Այս աշխատանքը կամուրջ է հանդիսանում մաթեմատիկական խիստ տեսության և ժամանակակից ինժեներական պրակտիկայի միջև։</a:t>
            </a:r>
          </a:p>
        </p:txBody>
      </p:sp>
    </p:spTree>
    <p:extLst>
      <p:ext uri="{BB962C8B-B14F-4D97-AF65-F5344CB8AC3E}">
        <p14:creationId xmlns:p14="http://schemas.microsoft.com/office/powerpoint/2010/main" val="336249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>
            <a:extLst>
              <a:ext uri="{FF2B5EF4-FFF2-40B4-BE49-F238E27FC236}">
                <a16:creationId xmlns:a16="http://schemas.microsoft.com/office/drawing/2014/main" id="{668638A8-0CEA-E51A-2D65-FEB77F3389F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7878" b="7878"/>
          <a:stretch>
            <a:fillRect/>
          </a:stretch>
        </p:blipFill>
        <p:spPr/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52F0F3D-48E0-C4F9-DF21-8C7E58C0CE25}"/>
              </a:ext>
            </a:extLst>
          </p:cNvPr>
          <p:cNvSpPr/>
          <p:nvPr/>
        </p:nvSpPr>
        <p:spPr>
          <a:xfrm>
            <a:off x="0" y="4935794"/>
            <a:ext cx="9144000" cy="1922206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dirty="0">
              <a:solidFill>
                <a:schemeClr val="accent4">
                  <a:lumMod val="40000"/>
                  <a:lumOff val="60000"/>
                </a:schemeClr>
              </a:solidFill>
              <a:latin typeface="Sylfaen" pitchFamily="18" charset="0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AB827C6C-3B80-B3F1-3D2F-B183BC853CC8}"/>
              </a:ext>
            </a:extLst>
          </p:cNvPr>
          <p:cNvCxnSpPr/>
          <p:nvPr/>
        </p:nvCxnSpPr>
        <p:spPr>
          <a:xfrm>
            <a:off x="1" y="5161936"/>
            <a:ext cx="9143999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8D534BF-1196-FBAE-FD29-4DAB169C75A8}"/>
              </a:ext>
            </a:extLst>
          </p:cNvPr>
          <p:cNvSpPr txBox="1"/>
          <p:nvPr/>
        </p:nvSpPr>
        <p:spPr>
          <a:xfrm>
            <a:off x="4214810" y="285728"/>
            <a:ext cx="464347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hy-AM" altLang="en-US" sz="4000" dirty="0">
                <a:solidFill>
                  <a:schemeClr val="tx2">
                    <a:lumMod val="40000"/>
                    <a:lumOff val="60000"/>
                  </a:schemeClr>
                </a:solidFill>
                <a:latin typeface="Sylfaen" pitchFamily="18" charset="0"/>
                <a:ea typeface="NEXON Lv2 Gothic Bold" pitchFamily="2" charset="-127"/>
              </a:rPr>
              <a:t>Շնորհակալություն</a:t>
            </a:r>
            <a:endParaRPr kumimoji="1" lang="x-none" altLang="en-US" sz="4000" dirty="0">
              <a:solidFill>
                <a:schemeClr val="tx2">
                  <a:lumMod val="40000"/>
                  <a:lumOff val="60000"/>
                </a:schemeClr>
              </a:solidFill>
              <a:latin typeface="Sylfaen" pitchFamily="18" charset="0"/>
              <a:ea typeface="NEXON Lv2 Gothic Bold" pitchFamily="2" charset="-127"/>
            </a:endParaRPr>
          </a:p>
        </p:txBody>
      </p:sp>
      <p:grpSp>
        <p:nvGrpSpPr>
          <p:cNvPr id="2" name="그룹 12">
            <a:extLst>
              <a:ext uri="{FF2B5EF4-FFF2-40B4-BE49-F238E27FC236}">
                <a16:creationId xmlns:a16="http://schemas.microsoft.com/office/drawing/2014/main" id="{32F169B3-98A1-1F7E-C02A-726215BFE1E8}"/>
              </a:ext>
            </a:extLst>
          </p:cNvPr>
          <p:cNvGrpSpPr/>
          <p:nvPr/>
        </p:nvGrpSpPr>
        <p:grpSpPr>
          <a:xfrm>
            <a:off x="4143373" y="428602"/>
            <a:ext cx="4797883" cy="414424"/>
            <a:chOff x="1236436" y="2620310"/>
            <a:chExt cx="11014401" cy="1223127"/>
          </a:xfrm>
          <a:solidFill>
            <a:schemeClr val="accent4"/>
          </a:solidFill>
        </p:grpSpPr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62221EEE-7859-B7FB-C9EA-C52D716A45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20117" y="3136629"/>
              <a:ext cx="1223123" cy="1904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Rectangle 29">
              <a:extLst>
                <a:ext uri="{FF2B5EF4-FFF2-40B4-BE49-F238E27FC236}">
                  <a16:creationId xmlns:a16="http://schemas.microsoft.com/office/drawing/2014/main" id="{C9E01054-FFFA-E00D-4F9E-EC4C489BDD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544032" y="3136632"/>
              <a:ext cx="1223124" cy="190486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527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584</Words>
  <Application>Microsoft Macintosh PowerPoint</Application>
  <PresentationFormat>Экран (4:3)</PresentationFormat>
  <Paragraphs>33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Sylfaen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Lilit Qosyan</cp:lastModifiedBy>
  <cp:revision>29</cp:revision>
  <dcterms:created xsi:type="dcterms:W3CDTF">2024-04-19T09:52:28Z</dcterms:created>
  <dcterms:modified xsi:type="dcterms:W3CDTF">2026-04-28T20:13:23Z</dcterms:modified>
</cp:coreProperties>
</file>